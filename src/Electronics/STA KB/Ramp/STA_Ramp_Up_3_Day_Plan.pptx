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522eab3e-4b56-f047-a966-d61db7d8779c}">
          <p14:sldIdLst>
            <p14:sldId id="256"/>
            <p14:sldId id="257"/>
          </p14:sldIdLst>
        </p14:section>
        <p14:section name="Day 1" id="{9537ecda-4565-4564-904e-b66f7cfafb7d}">
          <p14:sldIdLst>
            <p14:sldId id="258"/>
            <p14:sldId id="259"/>
          </p14:sldIdLst>
        </p14:section>
        <p14:section name="Day 2" id="{9ffee53f-6f7c-9972-364a-8273e965e77b}">
          <p14:sldIdLst>
            <p14:sldId id="260"/>
            <p14:sldId id="261"/>
          </p14:sldIdLst>
        </p14:section>
        <p14:section name="Day 3" id="{2db5f5b4-61ea-2163-b7c1-43e3a3722187}">
          <p14:sldIdLst>
            <p14:sldId id="262"/>
            <p14:sldId id="263"/>
          </p14:sldIdLst>
        </p14:section>
        <p14:section name="Constraints" id="{738becca-b1df-a12e-a9ac-e5493b133f66}">
          <p14:sldIdLst>
            <p14:sldId id="264"/>
            <p14:sldId id="265"/>
          </p14:sldIdLst>
        </p14:section>
        <p14:section name="Reference" id="{3b0b8028-1399-5cf3-2e42-5945e2fc5e97}">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a 12-week research plan into three days. Built on one core textbook (Bhasker &amp; Chadha, Static Timing Analysis for Nanometer Designs), the Liberty User Guide, and tool documentation. Every playlist video provided by the user is mapped to 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install OpenSTA, load a sample design and run report_checks; compare timing with and without SPEF and inspect delay calculation with report_dcalc. Sources: Bhasker &amp; Chadha Ch. 1–5 and App. C; Liberty User Guide; OpenSTA README; Week 2 Video 1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covers core concepts from the research plan; no specific playlist video was supplied for it. B&amp;C = Bhasker &amp; Chadha, Static Timing Analysis for Nanometer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Bhasker &amp; Chadha Ch. 7, Ch. 8, Ch. 10, App. A (SDC); PrimeTime datasheet (HyperTrace: PBA accuracy at GBA runtime, distributed multi-scenario); Tempus datasheet (distributed PBA, concurrent MMMC).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1's SDC content (Week 9 had no supplied video) follows B&amp;C Ch. 7 and App.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Bhasker &amp; Chadha Ch. 6 (crosstalk), Ch. 7, Ch. 9, Ch. 10 (OCV, CPPR, MMMC, SSTA); Liberty User Guide LVF section; SemiEngineering LVF article; Tempus datasheet (ETM/ILM/SmartScope).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is a learning aid; the SDC standard lists commands without categories. Command sources: Microchip SDC command reference; AMD Vivado UG903 supported SDC commands (SDC 1.9 list); SDC notes (akiitr); LTH PrimeTime lab slides; Bhasker &amp; Chadha Ch. 7 and App. A. set_timing_derate is applied in the STA tool (Day 3 derates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constraints before trusting results: check_timing flags missing constraints (e.g. unconstrained outputs) and report_exceptions -ignored lists exceptions the tool dropped. PrimeTime also offers SDC consistency checking. Read: Bhasker &amp; Chadha Ch. 7 and App.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vendor product pages and datasheets (PrimeTime, Tempus, ICC II, Genus/Innovus, Aprisa fact sheet), the OpenSTA README and the Ansys Path FX page. Features not listed were not found in those sources, which does not mean they are unsupported. Speed and accuracy figures are vendor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to the right trades runtime and library size for accuracy and less pessimism. CCS: Synopsys claims within 2% of HSPICE. LVF adds early/late sigma tables per timing arc; Liberty 2017.06 adds moments for non-Gaussian distributions. Sources: Bhasker &amp; Chadha Ch. 3–6, 10; Liberty User Guide; Synopsys/Si2 releases; SemiEngineering; Tempus datasheet.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kept to one book plus two references so the same sources serve every topic. Optional companion playlists from the same channel: Master Timing Constraints, Latch Timing Demystified, Full Chip Timing/STA closure, STA Q&amp;As, Statistical Timing Analysis (SSTA).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nchor="b"/>
          <a:lstStyle/>
          <a:p>
            <a:pPr indent="0" marL="0">
              <a:buNone/>
            </a:pPr>
            <a:r>
              <a:rPr lang="en-US" sz="4000" b="1" dirty="0">
                <a:solidFill>
                  <a:schemeClr val="bg1"/>
                </a:solidFill>
              </a:rPr>
              <a:t>STA Ramp-Up: 3-Day Plan</a:t>
            </a:r>
            <a:endParaRPr lang="en-US" sz="40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nchor="t"/>
          <a:lstStyle/>
          <a:p>
            <a:pPr indent="0" marL="0">
              <a:buNone/>
            </a:pPr>
            <a:r>
              <a:rPr lang="en-US" sz="1800" dirty="0">
                <a:solidFill>
                  <a:schemeClr val="accent4"/>
                </a:solidFill>
              </a:rPr>
              <a:t>Static Timing Analysis, from where STA fits to full-chip signoff — mapped to the STA Series playlist (Chip Design with Rashid)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Three days, three layers</a:t>
            </a:r>
            <a:endParaRPr lang="en-US" sz="3200" dirty="0"/>
          </a:p>
        </p:txBody>
      </p:sp>
      <p:sp>
        <p:nvSpPr>
          <p:cNvPr id="3" name="Card Day 1"/>
          <p:cNvSpPr/>
          <p:nvPr/>
        </p:nvSpPr>
        <p:spPr>
          <a:xfrm>
            <a:off x="457200" y="1097280"/>
            <a:ext cx="2560320" cy="3429000"/>
          </a:xfrm>
          <a:prstGeom prst="roundRect">
            <a:avLst>
              <a:gd name="adj" fmla="val 4286"/>
            </a:avLst>
          </a:prstGeom>
          <a:solidFill>
            <a:schemeClr val="bg2"/>
          </a:solidFill>
          <a:ln/>
        </p:spPr>
      </p:sp>
      <p:sp>
        <p:nvSpPr>
          <p:cNvPr id="4" name="Shape 2"/>
          <p:cNvSpPr/>
          <p:nvPr/>
        </p:nvSpPr>
        <p:spPr>
          <a:xfrm>
            <a:off x="685800" y="132588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13816" y="1453896"/>
            <a:ext cx="292608" cy="292608"/>
          </a:xfrm>
          <a:prstGeom prst="rect">
            <a:avLst/>
          </a:prstGeom>
        </p:spPr>
      </p:pic>
      <p:sp>
        <p:nvSpPr>
          <p:cNvPr id="6" name="Text 3"/>
          <p:cNvSpPr txBox="1"/>
          <p:nvPr/>
        </p:nvSpPr>
        <p:spPr>
          <a:xfrm>
            <a:off x="1371600" y="1325880"/>
            <a:ext cx="1508760" cy="274320"/>
          </a:xfrm>
          <a:prstGeom prst="rect">
            <a:avLst/>
          </a:prstGeom>
          <a:noFill/>
          <a:ln/>
        </p:spPr>
        <p:txBody>
          <a:bodyPr wrap="square" lIns="0" tIns="0" rIns="0" bIns="0" rtlCol="0" anchor="ctr"/>
          <a:lstStyle/>
          <a:p>
            <a:pPr indent="0" marL="0">
              <a:buNone/>
            </a:pPr>
            <a:r>
              <a:rPr lang="en-US" sz="1400" b="1" dirty="0">
                <a:solidFill>
                  <a:schemeClr val="accent1"/>
                </a:solidFill>
              </a:rPr>
              <a:t>Day 1</a:t>
            </a:r>
            <a:endParaRPr lang="en-US" sz="1400" dirty="0"/>
          </a:p>
        </p:txBody>
      </p:sp>
      <p:sp>
        <p:nvSpPr>
          <p:cNvPr id="7" name="Text 4"/>
          <p:cNvSpPr txBox="1"/>
          <p:nvPr/>
        </p:nvSpPr>
        <p:spPr>
          <a:xfrm>
            <a:off x="1371600" y="1600200"/>
            <a:ext cx="1554480" cy="274320"/>
          </a:xfrm>
          <a:prstGeom prst="rect">
            <a:avLst/>
          </a:prstGeom>
          <a:noFill/>
          <a:ln/>
        </p:spPr>
        <p:txBody>
          <a:bodyPr wrap="square" lIns="0" tIns="0" rIns="0" bIns="0" rtlCol="0" anchor="ctr"/>
          <a:lstStyle/>
          <a:p>
            <a:pPr indent="0" marL="0">
              <a:buNone/>
            </a:pPr>
            <a:r>
              <a:rPr lang="en-US" sz="1100" dirty="0">
                <a:solidFill>
                  <a:schemeClr val="accent3"/>
                </a:solidFill>
              </a:rPr>
              <a:t>Playlist Weeks 1–5</a:t>
            </a:r>
            <a:endParaRPr lang="en-US" sz="1100" dirty="0"/>
          </a:p>
        </p:txBody>
      </p:sp>
      <p:sp>
        <p:nvSpPr>
          <p:cNvPr id="8" name="Text 5"/>
          <p:cNvSpPr txBox="1"/>
          <p:nvPr/>
        </p:nvSpPr>
        <p:spPr>
          <a:xfrm>
            <a:off x="685800" y="2057400"/>
            <a:ext cx="219456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Foundations &amp; inputs</a:t>
            </a:r>
            <a:endParaRPr lang="en-US" sz="2000" dirty="0"/>
          </a:p>
        </p:txBody>
      </p:sp>
      <p:sp>
        <p:nvSpPr>
          <p:cNvPr id="9" name="Text 6"/>
          <p:cNvSpPr txBox="1"/>
          <p:nvPr/>
        </p:nvSpPr>
        <p:spPr>
          <a:xfrm>
            <a:off x="685800" y="2834640"/>
            <a:ext cx="219456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Where STA fits in PD</a:t>
            </a:r>
            <a:endParaRPr lang="en-US" sz="1400" dirty="0"/>
          </a:p>
          <a:p>
            <a:pPr marL="342900" indent="-342900">
              <a:spcAft>
                <a:spcPts val="800"/>
              </a:spcAft>
              <a:buSzPct val="100000"/>
              <a:buChar char="•"/>
            </a:pPr>
            <a:r>
              <a:rPr lang="en-US" sz="1400" dirty="0">
                <a:solidFill>
                  <a:schemeClr val="tx2"/>
                </a:solidFill>
              </a:rPr>
              <a:t>Core timing checks</a:t>
            </a:r>
            <a:endParaRPr lang="en-US" sz="1400" dirty="0"/>
          </a:p>
          <a:p>
            <a:pPr marL="342900" indent="-342900">
              <a:spcAft>
                <a:spcPts val="800"/>
              </a:spcAft>
              <a:buSzPct val="100000"/>
              <a:buChar char="•"/>
            </a:pPr>
            <a:r>
              <a:rPr lang="en-US" sz="1400" dirty="0">
                <a:solidFill>
                  <a:schemeClr val="tx2"/>
                </a:solidFill>
              </a:rPr>
              <a:t>Libraries, netlist, SPEF</a:t>
            </a:r>
            <a:endParaRPr lang="en-US" sz="1400" dirty="0"/>
          </a:p>
        </p:txBody>
      </p:sp>
      <p:sp>
        <p:nvSpPr>
          <p:cNvPr id="10" name="Card Day 2"/>
          <p:cNvSpPr/>
          <p:nvPr/>
        </p:nvSpPr>
        <p:spPr>
          <a:xfrm>
            <a:off x="3291840" y="1097280"/>
            <a:ext cx="2560320" cy="3429000"/>
          </a:xfrm>
          <a:prstGeom prst="roundRect">
            <a:avLst>
              <a:gd name="adj" fmla="val 4286"/>
            </a:avLst>
          </a:prstGeom>
          <a:solidFill>
            <a:schemeClr val="bg2"/>
          </a:solidFill>
          <a:ln/>
        </p:spPr>
      </p:sp>
      <p:sp>
        <p:nvSpPr>
          <p:cNvPr id="11" name="Shape 8"/>
          <p:cNvSpPr/>
          <p:nvPr/>
        </p:nvSpPr>
        <p:spPr>
          <a:xfrm>
            <a:off x="3520440" y="1325880"/>
            <a:ext cx="548640" cy="54864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648456" y="1453896"/>
            <a:ext cx="292608" cy="292608"/>
          </a:xfrm>
          <a:prstGeom prst="rect">
            <a:avLst/>
          </a:prstGeom>
        </p:spPr>
      </p:pic>
      <p:sp>
        <p:nvSpPr>
          <p:cNvPr id="13" name="Text 9"/>
          <p:cNvSpPr txBox="1"/>
          <p:nvPr/>
        </p:nvSpPr>
        <p:spPr>
          <a:xfrm>
            <a:off x="4206240" y="1325880"/>
            <a:ext cx="1508760" cy="274320"/>
          </a:xfrm>
          <a:prstGeom prst="rect">
            <a:avLst/>
          </a:prstGeom>
          <a:noFill/>
          <a:ln/>
        </p:spPr>
        <p:txBody>
          <a:bodyPr wrap="square" lIns="0" tIns="0" rIns="0" bIns="0" rtlCol="0" anchor="ctr"/>
          <a:lstStyle/>
          <a:p>
            <a:pPr indent="0" marL="0">
              <a:buNone/>
            </a:pPr>
            <a:r>
              <a:rPr lang="en-US" sz="1400" b="1" dirty="0">
                <a:solidFill>
                  <a:schemeClr val="accent1"/>
                </a:solidFill>
              </a:rPr>
              <a:t>Day 2</a:t>
            </a:r>
            <a:endParaRPr lang="en-US" sz="1400" dirty="0"/>
          </a:p>
        </p:txBody>
      </p:sp>
      <p:sp>
        <p:nvSpPr>
          <p:cNvPr id="14" name="Text 10"/>
          <p:cNvSpPr txBox="1"/>
          <p:nvPr/>
        </p:nvSpPr>
        <p:spPr>
          <a:xfrm>
            <a:off x="4206240" y="1600200"/>
            <a:ext cx="1554480" cy="274320"/>
          </a:xfrm>
          <a:prstGeom prst="rect">
            <a:avLst/>
          </a:prstGeom>
          <a:noFill/>
          <a:ln/>
        </p:spPr>
        <p:txBody>
          <a:bodyPr wrap="square" lIns="0" tIns="0" rIns="0" bIns="0" rtlCol="0" anchor="ctr"/>
          <a:lstStyle/>
          <a:p>
            <a:pPr indent="0" marL="0">
              <a:buNone/>
            </a:pPr>
            <a:r>
              <a:rPr lang="en-US" sz="1100" dirty="0">
                <a:solidFill>
                  <a:schemeClr val="accent3"/>
                </a:solidFill>
              </a:rPr>
              <a:t>Playlist Weeks 6–9</a:t>
            </a:r>
            <a:endParaRPr lang="en-US" sz="1100" dirty="0"/>
          </a:p>
        </p:txBody>
      </p:sp>
      <p:sp>
        <p:nvSpPr>
          <p:cNvPr id="15" name="Text 11"/>
          <p:cNvSpPr txBox="1"/>
          <p:nvPr/>
        </p:nvSpPr>
        <p:spPr>
          <a:xfrm>
            <a:off x="3520440" y="2057400"/>
            <a:ext cx="219456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Running STA</a:t>
            </a:r>
            <a:endParaRPr lang="en-US" sz="2000" dirty="0"/>
          </a:p>
        </p:txBody>
      </p:sp>
      <p:sp>
        <p:nvSpPr>
          <p:cNvPr id="16" name="Text 12"/>
          <p:cNvSpPr txBox="1"/>
          <p:nvPr/>
        </p:nvSpPr>
        <p:spPr>
          <a:xfrm>
            <a:off x="3520440" y="2834640"/>
            <a:ext cx="219456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Flow, SDC, check_timing</a:t>
            </a:r>
            <a:endParaRPr lang="en-US" sz="1400" dirty="0"/>
          </a:p>
          <a:p>
            <a:pPr marL="342900" indent="-342900">
              <a:spcAft>
                <a:spcPts val="800"/>
              </a:spcAft>
              <a:buSzPct val="100000"/>
              <a:buChar char="•"/>
            </a:pPr>
            <a:r>
              <a:rPr lang="en-US" sz="1400" dirty="0">
                <a:solidFill>
                  <a:schemeClr val="tx2"/>
                </a:solidFill>
              </a:rPr>
              <a:t>Timing report types</a:t>
            </a:r>
            <a:endParaRPr lang="en-US" sz="1400" dirty="0"/>
          </a:p>
          <a:p>
            <a:pPr marL="342900" indent="-342900">
              <a:spcAft>
                <a:spcPts val="800"/>
              </a:spcAft>
              <a:buSzPct val="100000"/>
              <a:buChar char="•"/>
            </a:pPr>
            <a:r>
              <a:rPr lang="en-US" sz="1400" dirty="0">
                <a:solidFill>
                  <a:schemeClr val="tx2"/>
                </a:solidFill>
              </a:rPr>
              <a:t>GBA vs PBA, MMMC</a:t>
            </a:r>
            <a:endParaRPr lang="en-US" sz="1400" dirty="0"/>
          </a:p>
        </p:txBody>
      </p:sp>
      <p:sp>
        <p:nvSpPr>
          <p:cNvPr id="17" name="Card Day 3"/>
          <p:cNvSpPr/>
          <p:nvPr/>
        </p:nvSpPr>
        <p:spPr>
          <a:xfrm>
            <a:off x="6126480" y="1097280"/>
            <a:ext cx="2560320" cy="3429000"/>
          </a:xfrm>
          <a:prstGeom prst="roundRect">
            <a:avLst>
              <a:gd name="adj" fmla="val 4286"/>
            </a:avLst>
          </a:prstGeom>
          <a:solidFill>
            <a:schemeClr val="bg2"/>
          </a:solidFill>
          <a:ln/>
        </p:spPr>
      </p:sp>
      <p:sp>
        <p:nvSpPr>
          <p:cNvPr id="18" name="Shape 14"/>
          <p:cNvSpPr/>
          <p:nvPr/>
        </p:nvSpPr>
        <p:spPr>
          <a:xfrm>
            <a:off x="6355080" y="1325880"/>
            <a:ext cx="548640" cy="548640"/>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6483096" y="1453896"/>
            <a:ext cx="292608" cy="292608"/>
          </a:xfrm>
          <a:prstGeom prst="rect">
            <a:avLst/>
          </a:prstGeom>
        </p:spPr>
      </p:pic>
      <p:sp>
        <p:nvSpPr>
          <p:cNvPr id="20" name="Text 15"/>
          <p:cNvSpPr txBox="1"/>
          <p:nvPr/>
        </p:nvSpPr>
        <p:spPr>
          <a:xfrm>
            <a:off x="7040880" y="1325880"/>
            <a:ext cx="1508760" cy="274320"/>
          </a:xfrm>
          <a:prstGeom prst="rect">
            <a:avLst/>
          </a:prstGeom>
          <a:noFill/>
          <a:ln/>
        </p:spPr>
        <p:txBody>
          <a:bodyPr wrap="square" lIns="0" tIns="0" rIns="0" bIns="0" rtlCol="0" anchor="ctr"/>
          <a:lstStyle/>
          <a:p>
            <a:pPr indent="0" marL="0">
              <a:buNone/>
            </a:pPr>
            <a:r>
              <a:rPr lang="en-US" sz="1400" b="1" dirty="0">
                <a:solidFill>
                  <a:schemeClr val="accent1"/>
                </a:solidFill>
              </a:rPr>
              <a:t>Day 3</a:t>
            </a:r>
            <a:endParaRPr lang="en-US" sz="1400" dirty="0"/>
          </a:p>
        </p:txBody>
      </p:sp>
      <p:sp>
        <p:nvSpPr>
          <p:cNvPr id="21" name="Text 16"/>
          <p:cNvSpPr txBox="1"/>
          <p:nvPr/>
        </p:nvSpPr>
        <p:spPr>
          <a:xfrm>
            <a:off x="7040880" y="1600200"/>
            <a:ext cx="1554480" cy="274320"/>
          </a:xfrm>
          <a:prstGeom prst="rect">
            <a:avLst/>
          </a:prstGeom>
          <a:noFill/>
          <a:ln/>
        </p:spPr>
        <p:txBody>
          <a:bodyPr wrap="square" lIns="0" tIns="0" rIns="0" bIns="0" rtlCol="0" anchor="ctr"/>
          <a:lstStyle/>
          <a:p>
            <a:pPr indent="0" marL="0">
              <a:buNone/>
            </a:pPr>
            <a:r>
              <a:rPr lang="en-US" sz="1100" dirty="0">
                <a:solidFill>
                  <a:schemeClr val="accent3"/>
                </a:solidFill>
              </a:rPr>
              <a:t>Playlist Weeks 10–12</a:t>
            </a:r>
            <a:endParaRPr lang="en-US" sz="1100" dirty="0"/>
          </a:p>
        </p:txBody>
      </p:sp>
      <p:sp>
        <p:nvSpPr>
          <p:cNvPr id="22" name="Text 17"/>
          <p:cNvSpPr txBox="1"/>
          <p:nvPr/>
        </p:nvSpPr>
        <p:spPr>
          <a:xfrm>
            <a:off x="6355080" y="2057400"/>
            <a:ext cx="219456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Margins &amp; full chip</a:t>
            </a:r>
            <a:endParaRPr lang="en-US" sz="2000" dirty="0"/>
          </a:p>
        </p:txBody>
      </p:sp>
      <p:sp>
        <p:nvSpPr>
          <p:cNvPr id="23" name="Text 18"/>
          <p:cNvSpPr txBox="1"/>
          <p:nvPr/>
        </p:nvSpPr>
        <p:spPr>
          <a:xfrm>
            <a:off x="6355080" y="2834640"/>
            <a:ext cx="219456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Modes, derates, OCV</a:t>
            </a:r>
            <a:endParaRPr lang="en-US" sz="1400" dirty="0"/>
          </a:p>
          <a:p>
            <a:pPr marL="342900" indent="-342900">
              <a:spcAft>
                <a:spcPts val="800"/>
              </a:spcAft>
              <a:buSzPct val="100000"/>
              <a:buChar char="•"/>
            </a:pPr>
            <a:r>
              <a:rPr lang="en-US" sz="1400" dirty="0">
                <a:solidFill>
                  <a:schemeClr val="tx2"/>
                </a:solidFill>
              </a:rPr>
              <a:t>Block-to-block timing</a:t>
            </a:r>
            <a:endParaRPr lang="en-US" sz="1400" dirty="0"/>
          </a:p>
          <a:p>
            <a:pPr marL="342900" indent="-342900">
              <a:spcAft>
                <a:spcPts val="800"/>
              </a:spcAft>
              <a:buSzPct val="100000"/>
              <a:buChar char="•"/>
            </a:pPr>
            <a:r>
              <a:rPr lang="en-US" sz="1400" dirty="0">
                <a:solidFill>
                  <a:schemeClr val="tx2"/>
                </a:solidFill>
              </a:rPr>
              <a:t>Crosstalk, CRPR/CPPR</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accent1"/>
                </a:solidFill>
              </a:rPr>
              <a:t>Day 1: </a:t>
            </a:r>
            <a:pPr indent="0" marL="0">
              <a:buNone/>
            </a:pPr>
            <a:r>
              <a:rPr lang="en-US" sz="3200" b="1" dirty="0">
                <a:solidFill>
                  <a:schemeClr val="tx1"/>
                </a:solidFill>
              </a:rPr>
              <a:t>Foundations &amp; inputs</a:t>
            </a:r>
            <a:endParaRPr lang="en-US" sz="3200" dirty="0"/>
          </a:p>
        </p:txBody>
      </p:sp>
      <p:sp>
        <p:nvSpPr>
          <p:cNvPr id="3" name="Session 1"/>
          <p:cNvSpPr/>
          <p:nvPr/>
        </p:nvSpPr>
        <p:spPr>
          <a:xfrm>
            <a:off x="457200" y="1051560"/>
            <a:ext cx="2560320" cy="3611880"/>
          </a:xfrm>
          <a:prstGeom prst="roundRect">
            <a:avLst>
              <a:gd name="adj" fmla="val 4286"/>
            </a:avLst>
          </a:prstGeom>
          <a:solidFill>
            <a:schemeClr val="bg2"/>
          </a:solidFill>
          <a:ln/>
        </p:spPr>
      </p:sp>
      <p:sp>
        <p:nvSpPr>
          <p:cNvPr id="4" name="Shape 2"/>
          <p:cNvSpPr/>
          <p:nvPr/>
        </p:nvSpPr>
        <p:spPr>
          <a:xfrm>
            <a:off x="640080" y="1234440"/>
            <a:ext cx="457200" cy="45720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749808" y="1344168"/>
            <a:ext cx="237744" cy="237744"/>
          </a:xfrm>
          <a:prstGeom prst="rect">
            <a:avLst/>
          </a:prstGeom>
        </p:spPr>
      </p:pic>
      <p:sp>
        <p:nvSpPr>
          <p:cNvPr id="6" name="Text 3"/>
          <p:cNvSpPr txBox="1"/>
          <p:nvPr/>
        </p:nvSpPr>
        <p:spPr>
          <a:xfrm>
            <a:off x="123444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1 · Morning</a:t>
            </a:r>
            <a:endParaRPr lang="en-US" sz="1100" dirty="0"/>
          </a:p>
        </p:txBody>
      </p:sp>
      <p:sp>
        <p:nvSpPr>
          <p:cNvPr id="7" name="Text 4"/>
          <p:cNvSpPr txBox="1"/>
          <p:nvPr/>
        </p:nvSpPr>
        <p:spPr>
          <a:xfrm>
            <a:off x="123444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Why STA, where it fits</a:t>
            </a:r>
            <a:endParaRPr lang="en-US" sz="1500" dirty="0"/>
          </a:p>
        </p:txBody>
      </p:sp>
      <p:sp>
        <p:nvSpPr>
          <p:cNvPr id="8" name="Text 5"/>
          <p:cNvSpPr txBox="1"/>
          <p:nvPr/>
        </p:nvSpPr>
        <p:spPr>
          <a:xfrm>
            <a:off x="64008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STA complexity challenge</a:t>
            </a:r>
            <a:endParaRPr lang="en-US" sz="1400" dirty="0"/>
          </a:p>
          <a:p>
            <a:pPr marL="342900" indent="-342900">
              <a:spcAft>
                <a:spcPts val="600"/>
              </a:spcAft>
              <a:buSzPct val="100000"/>
              <a:buChar char="•"/>
            </a:pPr>
            <a:r>
              <a:rPr lang="en-US" sz="1400" dirty="0">
                <a:solidFill>
                  <a:schemeClr val="tx2"/>
                </a:solidFill>
              </a:rPr>
              <a:t>Hierarchical chip planning</a:t>
            </a:r>
            <a:endParaRPr lang="en-US" sz="1400" dirty="0"/>
          </a:p>
          <a:p>
            <a:pPr marL="342900" indent="-342900">
              <a:spcAft>
                <a:spcPts val="600"/>
              </a:spcAft>
              <a:buSzPct val="100000"/>
              <a:buChar char="•"/>
            </a:pPr>
            <a:r>
              <a:rPr lang="en-US" sz="1400" dirty="0">
                <a:solidFill>
                  <a:schemeClr val="tx2"/>
                </a:solidFill>
              </a:rPr>
              <a:t>PD stages: synthesis → routing</a:t>
            </a:r>
            <a:endParaRPr lang="en-US" sz="1400" dirty="0"/>
          </a:p>
          <a:p>
            <a:pPr marL="342900" indent="-342900">
              <a:spcAft>
                <a:spcPts val="600"/>
              </a:spcAft>
              <a:buSzPct val="100000"/>
              <a:buChar char="•"/>
            </a:pPr>
            <a:r>
              <a:rPr lang="en-US" sz="1400" dirty="0">
                <a:solidFill>
                  <a:schemeClr val="tx2"/>
                </a:solidFill>
              </a:rPr>
              <a:t>Signoff STA, inputs &amp; outputs</a:t>
            </a:r>
            <a:endParaRPr lang="en-US" sz="1400" dirty="0"/>
          </a:p>
        </p:txBody>
      </p:sp>
      <p:sp>
        <p:nvSpPr>
          <p:cNvPr id="9" name="Session 2"/>
          <p:cNvSpPr/>
          <p:nvPr/>
        </p:nvSpPr>
        <p:spPr>
          <a:xfrm>
            <a:off x="3291840" y="1051560"/>
            <a:ext cx="2560320" cy="3611880"/>
          </a:xfrm>
          <a:prstGeom prst="roundRect">
            <a:avLst>
              <a:gd name="adj" fmla="val 4286"/>
            </a:avLst>
          </a:prstGeom>
          <a:solidFill>
            <a:schemeClr val="bg2"/>
          </a:solidFill>
          <a:ln/>
        </p:spPr>
      </p:sp>
      <p:sp>
        <p:nvSpPr>
          <p:cNvPr id="10" name="Shape 7"/>
          <p:cNvSpPr/>
          <p:nvPr/>
        </p:nvSpPr>
        <p:spPr>
          <a:xfrm>
            <a:off x="3474720" y="1234440"/>
            <a:ext cx="457200" cy="45720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3584448" y="1344168"/>
            <a:ext cx="237744" cy="237744"/>
          </a:xfrm>
          <a:prstGeom prst="rect">
            <a:avLst/>
          </a:prstGeom>
        </p:spPr>
      </p:pic>
      <p:sp>
        <p:nvSpPr>
          <p:cNvPr id="12" name="Text 8"/>
          <p:cNvSpPr txBox="1"/>
          <p:nvPr/>
        </p:nvSpPr>
        <p:spPr>
          <a:xfrm>
            <a:off x="406908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2 · Midday</a:t>
            </a:r>
            <a:endParaRPr lang="en-US" sz="1100" dirty="0"/>
          </a:p>
        </p:txBody>
      </p:sp>
      <p:sp>
        <p:nvSpPr>
          <p:cNvPr id="13" name="Text 9"/>
          <p:cNvSpPr txBox="1"/>
          <p:nvPr/>
        </p:nvSpPr>
        <p:spPr>
          <a:xfrm>
            <a:off x="406908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Core timing checks</a:t>
            </a:r>
            <a:endParaRPr lang="en-US" sz="1500" dirty="0"/>
          </a:p>
        </p:txBody>
      </p:sp>
      <p:sp>
        <p:nvSpPr>
          <p:cNvPr id="14" name="Text 10"/>
          <p:cNvSpPr txBox="1"/>
          <p:nvPr/>
        </p:nvSpPr>
        <p:spPr>
          <a:xfrm>
            <a:off x="347472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Timing arcs &amp; unateness</a:t>
            </a:r>
            <a:endParaRPr lang="en-US" sz="1400" dirty="0"/>
          </a:p>
          <a:p>
            <a:pPr marL="342900" indent="-342900">
              <a:spcAft>
                <a:spcPts val="600"/>
              </a:spcAft>
              <a:buSzPct val="100000"/>
              <a:buChar char="•"/>
            </a:pPr>
            <a:r>
              <a:rPr lang="en-US" sz="1400" dirty="0">
                <a:solidFill>
                  <a:schemeClr val="tx2"/>
                </a:solidFill>
              </a:rPr>
              <a:t>Setup, hold &amp; slack</a:t>
            </a:r>
            <a:endParaRPr lang="en-US" sz="1400" dirty="0"/>
          </a:p>
          <a:p>
            <a:pPr marL="342900" indent="-342900">
              <a:spcAft>
                <a:spcPts val="600"/>
              </a:spcAft>
              <a:buSzPct val="100000"/>
              <a:buChar char="•"/>
            </a:pPr>
            <a:r>
              <a:rPr lang="en-US" sz="1400" dirty="0">
                <a:solidFill>
                  <a:schemeClr val="tx2"/>
                </a:solidFill>
              </a:rPr>
              <a:t>Path types: in-reg, reg-reg, reg-out</a:t>
            </a:r>
            <a:endParaRPr lang="en-US" sz="1400" dirty="0"/>
          </a:p>
          <a:p>
            <a:pPr marL="342900" indent="-342900">
              <a:spcAft>
                <a:spcPts val="600"/>
              </a:spcAft>
              <a:buSzPct val="100000"/>
              <a:buChar char="•"/>
            </a:pPr>
            <a:r>
              <a:rPr lang="en-US" sz="1400" dirty="0">
                <a:solidFill>
                  <a:schemeClr val="tx2"/>
                </a:solidFill>
              </a:rPr>
              <a:t>Skew, latency, uncertainty</a:t>
            </a:r>
            <a:endParaRPr lang="en-US" sz="1400" dirty="0"/>
          </a:p>
        </p:txBody>
      </p:sp>
      <p:sp>
        <p:nvSpPr>
          <p:cNvPr id="15" name="Session 3"/>
          <p:cNvSpPr/>
          <p:nvPr/>
        </p:nvSpPr>
        <p:spPr>
          <a:xfrm>
            <a:off x="6126480" y="1051560"/>
            <a:ext cx="2560320" cy="3611880"/>
          </a:xfrm>
          <a:prstGeom prst="roundRect">
            <a:avLst>
              <a:gd name="adj" fmla="val 4286"/>
            </a:avLst>
          </a:prstGeom>
          <a:solidFill>
            <a:schemeClr val="bg2"/>
          </a:solidFill>
          <a:ln/>
        </p:spPr>
      </p:sp>
      <p:sp>
        <p:nvSpPr>
          <p:cNvPr id="16" name="Shape 12"/>
          <p:cNvSpPr/>
          <p:nvPr/>
        </p:nvSpPr>
        <p:spPr>
          <a:xfrm>
            <a:off x="6309360" y="1234440"/>
            <a:ext cx="457200" cy="457200"/>
          </a:xfrm>
          <a:prstGeom prst="ellipse">
            <a:avLst/>
          </a:prstGeom>
          <a:solidFill>
            <a:schemeClr val="accent2"/>
          </a:solidFill>
          <a:ln/>
        </p:spPr>
      </p:sp>
      <p:pic>
        <p:nvPicPr>
          <p:cNvPr id="17" name="Image 2" descr="preencoded.png">    </p:cNvPr>
          <p:cNvPicPr>
            <a:picLocks noChangeAspect="1"/>
          </p:cNvPicPr>
          <p:nvPr/>
        </p:nvPicPr>
        <p:blipFill>
          <a:blip r:embed="rId3"/>
          <a:stretch>
            <a:fillRect/>
          </a:stretch>
        </p:blipFill>
        <p:spPr>
          <a:xfrm>
            <a:off x="6419088" y="1344168"/>
            <a:ext cx="237744" cy="237744"/>
          </a:xfrm>
          <a:prstGeom prst="rect">
            <a:avLst/>
          </a:prstGeom>
        </p:spPr>
      </p:pic>
      <p:sp>
        <p:nvSpPr>
          <p:cNvPr id="18" name="Text 13"/>
          <p:cNvSpPr txBox="1"/>
          <p:nvPr/>
        </p:nvSpPr>
        <p:spPr>
          <a:xfrm>
            <a:off x="690372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3 · Afternoon</a:t>
            </a:r>
            <a:endParaRPr lang="en-US" sz="1100" dirty="0"/>
          </a:p>
        </p:txBody>
      </p:sp>
      <p:sp>
        <p:nvSpPr>
          <p:cNvPr id="19" name="Text 14"/>
          <p:cNvSpPr txBox="1"/>
          <p:nvPr/>
        </p:nvSpPr>
        <p:spPr>
          <a:xfrm>
            <a:off x="690372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Libraries &amp; parasitics</a:t>
            </a:r>
            <a:endParaRPr lang="en-US" sz="1500" dirty="0"/>
          </a:p>
        </p:txBody>
      </p:sp>
      <p:sp>
        <p:nvSpPr>
          <p:cNvPr id="20" name="Text 15"/>
          <p:cNvSpPr txBox="1"/>
          <p:nvPr/>
        </p:nvSpPr>
        <p:spPr>
          <a:xfrm>
            <a:off x="630936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Read a .lib: NLDM vs CCS/ECSM</a:t>
            </a:r>
            <a:endParaRPr lang="en-US" sz="1400" dirty="0"/>
          </a:p>
          <a:p>
            <a:pPr marL="342900" indent="-342900">
              <a:spcAft>
                <a:spcPts val="600"/>
              </a:spcAft>
              <a:buSzPct val="100000"/>
              <a:buChar char="•"/>
            </a:pPr>
            <a:r>
              <a:rPr lang="en-US" sz="1400" dirty="0">
                <a:solidFill>
                  <a:schemeClr val="tx2"/>
                </a:solidFill>
              </a:rPr>
              <a:t>Wire-load → extracted SPEF</a:t>
            </a:r>
            <a:endParaRPr lang="en-US" sz="1400" dirty="0"/>
          </a:p>
          <a:p>
            <a:pPr marL="342900" indent="-342900">
              <a:spcAft>
                <a:spcPts val="600"/>
              </a:spcAft>
              <a:buSzPct val="100000"/>
              <a:buChar char="•"/>
            </a:pPr>
            <a:r>
              <a:rPr lang="en-US" sz="1400" dirty="0">
                <a:solidFill>
                  <a:schemeClr val="tx2"/>
                </a:solidFill>
              </a:rPr>
              <a:t>Reviewing the read-netlist log</a:t>
            </a:r>
            <a:endParaRPr lang="en-US" sz="1400" dirty="0"/>
          </a:p>
          <a:p>
            <a:pPr marL="342900" indent="-342900">
              <a:spcAft>
                <a:spcPts val="600"/>
              </a:spcAft>
              <a:buSzPct val="100000"/>
              <a:buChar char="•"/>
            </a:pPr>
            <a:r>
              <a:rPr lang="en-US" sz="1400" dirty="0">
                <a:solidFill>
                  <a:schemeClr val="tx2"/>
                </a:solidFill>
              </a:rPr>
              <a:t>SPEF format &amp; parasitics report</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accent1"/>
                </a:solidFill>
              </a:rPr>
              <a:t>Day 1: </a:t>
            </a:r>
            <a:pPr indent="0" marL="0">
              <a:buNone/>
            </a:pPr>
            <a:r>
              <a:rPr lang="en-US" sz="3200" b="1" dirty="0">
                <a:solidFill>
                  <a:schemeClr val="tx1"/>
                </a:solidFill>
              </a:rPr>
              <a:t>playlist &amp; reading</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572000"/>
                <a:gridCol w="1371600"/>
                <a:gridCol w="2286000"/>
              </a:tblGrid>
              <a:tr h="0">
                <a:tc>
                  <a:txBody>
                    <a:bodyPr/>
                    <a:lstStyle/>
                    <a:p>
                      <a:pPr indent="0" marL="0">
                        <a:buNone/>
                      </a:pPr>
                      <a:r>
                        <a:rPr lang="en-US" sz="1200" b="1" dirty="0">
                          <a:solidFill>
                            <a:schemeClr val="bg1"/>
                          </a:solidFill>
                        </a:rPr>
                        <a:t>Playlist video</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Session</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Read</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r>
              <a:tr h="0">
                <a:tc>
                  <a:txBody>
                    <a:bodyPr/>
                    <a:lstStyle/>
                    <a:p>
                      <a:pPr indent="0" marL="0">
                        <a:buNone/>
                      </a:pPr>
                      <a:r>
                        <a:rPr lang="en-US" sz="1200" dirty="0">
                          <a:solidFill>
                            <a:schemeClr val="tx2"/>
                          </a:solidFill>
                        </a:rPr>
                        <a:t>STA Series, Week 1, Video 1: Static Timing Analysis - Complexity Challenge</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1</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2"/>
                          </a:solidFill>
                        </a:rPr>
                        <a:t>STA Series, Week 1, Video 3: Hierarchical Planning of the Chip</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B&amp;C Ch. 1</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2"/>
                          </a:solidFill>
                        </a:rPr>
                        <a:t>STA Series, Week 2, Video 1: Overview of Physical Design Stages and where STA fits</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1, 2</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1–2, Ch. 8</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2"/>
                          </a:solidFill>
                        </a:rPr>
                        <a:t>STA Series, Week 5, Video 6: Review Read Netlist Log File (Members only)</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3</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B&amp;C Ch. 3; tool guide</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2"/>
                          </a:solidFill>
                        </a:rPr>
                        <a:t>STA Series, Week 5, Video 7: Understand SPEF Format &amp; Review Parasitics Report (Members only)</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3</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4–5, App. C</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accent1"/>
                </a:solidFill>
              </a:rPr>
              <a:t>Day 2: </a:t>
            </a:r>
            <a:pPr indent="0" marL="0">
              <a:buNone/>
            </a:pPr>
            <a:r>
              <a:rPr lang="en-US" sz="3200" b="1" dirty="0">
                <a:solidFill>
                  <a:schemeClr val="tx1"/>
                </a:solidFill>
              </a:rPr>
              <a:t>Running STA</a:t>
            </a:r>
            <a:endParaRPr lang="en-US" sz="3200" dirty="0"/>
          </a:p>
        </p:txBody>
      </p:sp>
      <p:sp>
        <p:nvSpPr>
          <p:cNvPr id="3" name="Session 1"/>
          <p:cNvSpPr/>
          <p:nvPr/>
        </p:nvSpPr>
        <p:spPr>
          <a:xfrm>
            <a:off x="457200" y="1051560"/>
            <a:ext cx="2560320" cy="3611880"/>
          </a:xfrm>
          <a:prstGeom prst="roundRect">
            <a:avLst>
              <a:gd name="adj" fmla="val 4286"/>
            </a:avLst>
          </a:prstGeom>
          <a:solidFill>
            <a:schemeClr val="bg2"/>
          </a:solidFill>
          <a:ln/>
        </p:spPr>
      </p:sp>
      <p:sp>
        <p:nvSpPr>
          <p:cNvPr id="4" name="Shape 2"/>
          <p:cNvSpPr/>
          <p:nvPr/>
        </p:nvSpPr>
        <p:spPr>
          <a:xfrm>
            <a:off x="640080" y="1234440"/>
            <a:ext cx="457200" cy="45720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749808" y="1344168"/>
            <a:ext cx="237744" cy="237744"/>
          </a:xfrm>
          <a:prstGeom prst="rect">
            <a:avLst/>
          </a:prstGeom>
        </p:spPr>
      </p:pic>
      <p:sp>
        <p:nvSpPr>
          <p:cNvPr id="6" name="Text 3"/>
          <p:cNvSpPr txBox="1"/>
          <p:nvPr/>
        </p:nvSpPr>
        <p:spPr>
          <a:xfrm>
            <a:off x="123444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1 · Morning</a:t>
            </a:r>
            <a:endParaRPr lang="en-US" sz="1100" dirty="0"/>
          </a:p>
        </p:txBody>
      </p:sp>
      <p:sp>
        <p:nvSpPr>
          <p:cNvPr id="7" name="Text 4"/>
          <p:cNvSpPr txBox="1"/>
          <p:nvPr/>
        </p:nvSpPr>
        <p:spPr>
          <a:xfrm>
            <a:off x="123444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Flow &amp; constraints</a:t>
            </a:r>
            <a:endParaRPr lang="en-US" sz="1500" dirty="0"/>
          </a:p>
        </p:txBody>
      </p:sp>
      <p:sp>
        <p:nvSpPr>
          <p:cNvPr id="8" name="Text 5"/>
          <p:cNvSpPr txBox="1"/>
          <p:nvPr/>
        </p:nvSpPr>
        <p:spPr>
          <a:xfrm>
            <a:off x="64008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Basic STA flow revision</a:t>
            </a:r>
            <a:endParaRPr lang="en-US" sz="1400" dirty="0"/>
          </a:p>
          <a:p>
            <a:pPr marL="342900" indent="-342900">
              <a:spcAft>
                <a:spcPts val="600"/>
              </a:spcAft>
              <a:buSzPct val="100000"/>
              <a:buChar char="•"/>
            </a:pPr>
            <a:r>
              <a:rPr lang="en-US" sz="1400" dirty="0">
                <a:solidFill>
                  <a:schemeClr val="tx2"/>
                </a:solidFill>
              </a:rPr>
              <a:t>Getting check_timing clean</a:t>
            </a:r>
            <a:endParaRPr lang="en-US" sz="1400" dirty="0"/>
          </a:p>
          <a:p>
            <a:pPr marL="342900" indent="-342900">
              <a:spcAft>
                <a:spcPts val="600"/>
              </a:spcAft>
              <a:buSzPct val="100000"/>
              <a:buChar char="•"/>
            </a:pPr>
            <a:r>
              <a:rPr lang="en-US" sz="1400" dirty="0">
                <a:solidFill>
                  <a:schemeClr val="tx2"/>
                </a:solidFill>
              </a:rPr>
              <a:t>SDC: clocks, I/O delays</a:t>
            </a:r>
            <a:endParaRPr lang="en-US" sz="1400" dirty="0"/>
          </a:p>
          <a:p>
            <a:pPr marL="342900" indent="-342900">
              <a:spcAft>
                <a:spcPts val="600"/>
              </a:spcAft>
              <a:buSzPct val="100000"/>
              <a:buChar char="•"/>
            </a:pPr>
            <a:r>
              <a:rPr lang="en-US" sz="1400" dirty="0">
                <a:solidFill>
                  <a:schemeClr val="tx2"/>
                </a:solidFill>
              </a:rPr>
              <a:t>False &amp; multicycle paths</a:t>
            </a:r>
            <a:endParaRPr lang="en-US" sz="1400" dirty="0"/>
          </a:p>
        </p:txBody>
      </p:sp>
      <p:sp>
        <p:nvSpPr>
          <p:cNvPr id="9" name="Session 2"/>
          <p:cNvSpPr/>
          <p:nvPr/>
        </p:nvSpPr>
        <p:spPr>
          <a:xfrm>
            <a:off x="3291840" y="1051560"/>
            <a:ext cx="2560320" cy="3611880"/>
          </a:xfrm>
          <a:prstGeom prst="roundRect">
            <a:avLst>
              <a:gd name="adj" fmla="val 4286"/>
            </a:avLst>
          </a:prstGeom>
          <a:solidFill>
            <a:schemeClr val="bg2"/>
          </a:solidFill>
          <a:ln/>
        </p:spPr>
      </p:sp>
      <p:sp>
        <p:nvSpPr>
          <p:cNvPr id="10" name="Shape 7"/>
          <p:cNvSpPr/>
          <p:nvPr/>
        </p:nvSpPr>
        <p:spPr>
          <a:xfrm>
            <a:off x="3474720" y="1234440"/>
            <a:ext cx="457200" cy="45720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3584448" y="1344168"/>
            <a:ext cx="237744" cy="237744"/>
          </a:xfrm>
          <a:prstGeom prst="rect">
            <a:avLst/>
          </a:prstGeom>
        </p:spPr>
      </p:pic>
      <p:sp>
        <p:nvSpPr>
          <p:cNvPr id="12" name="Text 8"/>
          <p:cNvSpPr txBox="1"/>
          <p:nvPr/>
        </p:nvSpPr>
        <p:spPr>
          <a:xfrm>
            <a:off x="406908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2 · Midday</a:t>
            </a:r>
            <a:endParaRPr lang="en-US" sz="1100" dirty="0"/>
          </a:p>
        </p:txBody>
      </p:sp>
      <p:sp>
        <p:nvSpPr>
          <p:cNvPr id="13" name="Text 9"/>
          <p:cNvSpPr txBox="1"/>
          <p:nvPr/>
        </p:nvSpPr>
        <p:spPr>
          <a:xfrm>
            <a:off x="406908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Reading timing reports</a:t>
            </a:r>
            <a:endParaRPr lang="en-US" sz="1500" dirty="0"/>
          </a:p>
        </p:txBody>
      </p:sp>
      <p:sp>
        <p:nvSpPr>
          <p:cNvPr id="14" name="Text 10"/>
          <p:cNvSpPr txBox="1"/>
          <p:nvPr/>
        </p:nvSpPr>
        <p:spPr>
          <a:xfrm>
            <a:off x="347472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Report types: endpoint</a:t>
            </a:r>
            <a:endParaRPr lang="en-US" sz="1400" dirty="0"/>
          </a:p>
          <a:p>
            <a:pPr marL="342900" indent="-342900">
              <a:spcAft>
                <a:spcPts val="600"/>
              </a:spcAft>
              <a:buSzPct val="100000"/>
              <a:buChar char="•"/>
            </a:pPr>
            <a:r>
              <a:rPr lang="en-US" sz="1400" dirty="0">
                <a:solidFill>
                  <a:schemeClr val="tx2"/>
                </a:solidFill>
              </a:rPr>
              <a:t>Full path report</a:t>
            </a:r>
            <a:endParaRPr lang="en-US" sz="1400" dirty="0"/>
          </a:p>
          <a:p>
            <a:pPr marL="342900" indent="-342900">
              <a:spcAft>
                <a:spcPts val="600"/>
              </a:spcAft>
              <a:buSzPct val="100000"/>
              <a:buChar char="•"/>
            </a:pPr>
            <a:r>
              <a:rPr lang="en-US" sz="1400" dirty="0">
                <a:solidFill>
                  <a:schemeClr val="tx2"/>
                </a:solidFill>
              </a:rPr>
              <a:t>Full clock expanded</a:t>
            </a:r>
            <a:endParaRPr lang="en-US" sz="1400" dirty="0"/>
          </a:p>
          <a:p>
            <a:pPr marL="342900" indent="-342900">
              <a:spcAft>
                <a:spcPts val="600"/>
              </a:spcAft>
              <a:buSzPct val="100000"/>
              <a:buChar char="•"/>
            </a:pPr>
            <a:r>
              <a:rPr lang="en-US" sz="1400" dirty="0">
                <a:solidFill>
                  <a:schemeClr val="tx2"/>
                </a:solidFill>
              </a:rPr>
              <a:t>Lab: report_checks in OpenSTA</a:t>
            </a:r>
            <a:endParaRPr lang="en-US" sz="1400" dirty="0"/>
          </a:p>
        </p:txBody>
      </p:sp>
      <p:sp>
        <p:nvSpPr>
          <p:cNvPr id="15" name="Session 3"/>
          <p:cNvSpPr/>
          <p:nvPr/>
        </p:nvSpPr>
        <p:spPr>
          <a:xfrm>
            <a:off x="6126480" y="1051560"/>
            <a:ext cx="2560320" cy="3611880"/>
          </a:xfrm>
          <a:prstGeom prst="roundRect">
            <a:avLst>
              <a:gd name="adj" fmla="val 4286"/>
            </a:avLst>
          </a:prstGeom>
          <a:solidFill>
            <a:schemeClr val="bg2"/>
          </a:solidFill>
          <a:ln/>
        </p:spPr>
      </p:sp>
      <p:sp>
        <p:nvSpPr>
          <p:cNvPr id="16" name="Shape 12"/>
          <p:cNvSpPr/>
          <p:nvPr/>
        </p:nvSpPr>
        <p:spPr>
          <a:xfrm>
            <a:off x="6309360" y="1234440"/>
            <a:ext cx="457200" cy="457200"/>
          </a:xfrm>
          <a:prstGeom prst="ellipse">
            <a:avLst/>
          </a:prstGeom>
          <a:solidFill>
            <a:schemeClr val="accent2"/>
          </a:solidFill>
          <a:ln/>
        </p:spPr>
      </p:sp>
      <p:pic>
        <p:nvPicPr>
          <p:cNvPr id="17" name="Image 2" descr="preencoded.png">    </p:cNvPr>
          <p:cNvPicPr>
            <a:picLocks noChangeAspect="1"/>
          </p:cNvPicPr>
          <p:nvPr/>
        </p:nvPicPr>
        <p:blipFill>
          <a:blip r:embed="rId3"/>
          <a:stretch>
            <a:fillRect/>
          </a:stretch>
        </p:blipFill>
        <p:spPr>
          <a:xfrm>
            <a:off x="6419088" y="1344168"/>
            <a:ext cx="237744" cy="237744"/>
          </a:xfrm>
          <a:prstGeom prst="rect">
            <a:avLst/>
          </a:prstGeom>
        </p:spPr>
      </p:pic>
      <p:sp>
        <p:nvSpPr>
          <p:cNvPr id="18" name="Text 13"/>
          <p:cNvSpPr txBox="1"/>
          <p:nvPr/>
        </p:nvSpPr>
        <p:spPr>
          <a:xfrm>
            <a:off x="690372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3 · Afternoon</a:t>
            </a:r>
            <a:endParaRPr lang="en-US" sz="1100" dirty="0"/>
          </a:p>
        </p:txBody>
      </p:sp>
      <p:sp>
        <p:nvSpPr>
          <p:cNvPr id="19" name="Text 14"/>
          <p:cNvSpPr txBox="1"/>
          <p:nvPr/>
        </p:nvSpPr>
        <p:spPr>
          <a:xfrm>
            <a:off x="690372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Analysis modes</a:t>
            </a:r>
            <a:endParaRPr lang="en-US" sz="1500" dirty="0"/>
          </a:p>
        </p:txBody>
      </p:sp>
      <p:sp>
        <p:nvSpPr>
          <p:cNvPr id="20" name="Text 15"/>
          <p:cNvSpPr txBox="1"/>
          <p:nvPr/>
        </p:nvSpPr>
        <p:spPr>
          <a:xfrm>
            <a:off x="630936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GBA vs PBA: pessimism vs runtime</a:t>
            </a:r>
            <a:endParaRPr lang="en-US" sz="1400" dirty="0"/>
          </a:p>
          <a:p>
            <a:pPr marL="342900" indent="-342900">
              <a:spcAft>
                <a:spcPts val="600"/>
              </a:spcAft>
              <a:buSzPct val="100000"/>
              <a:buChar char="•"/>
            </a:pPr>
            <a:r>
              <a:rPr lang="en-US" sz="1400" dirty="0">
                <a:solidFill>
                  <a:schemeClr val="tx2"/>
                </a:solidFill>
              </a:rPr>
              <a:t>Concurrent multi-mode multi-scenario runs</a:t>
            </a:r>
            <a:endParaRPr lang="en-US" sz="1400" dirty="0"/>
          </a:p>
          <a:p>
            <a:pPr marL="342900" indent="-342900">
              <a:spcAft>
                <a:spcPts val="600"/>
              </a:spcAft>
              <a:buSzPct val="100000"/>
              <a:buChar char="•"/>
            </a:pPr>
            <a:r>
              <a:rPr lang="en-US" sz="1400" dirty="0">
                <a:solidFill>
                  <a:schemeClr val="tx2"/>
                </a:solidFill>
              </a:rPr>
              <a:t>How PrimeTime &amp; Tempus do each</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accent1"/>
                </a:solidFill>
              </a:rPr>
              <a:t>Day 2: </a:t>
            </a:r>
            <a:pPr indent="0" marL="0">
              <a:buNone/>
            </a:pPr>
            <a:r>
              <a:rPr lang="en-US" sz="3200" b="1" dirty="0">
                <a:solidFill>
                  <a:schemeClr val="tx1"/>
                </a:solidFill>
              </a:rPr>
              <a:t>playlist &amp; reading</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572000"/>
                <a:gridCol w="1371600"/>
                <a:gridCol w="2286000"/>
              </a:tblGrid>
              <a:tr h="0">
                <a:tc>
                  <a:txBody>
                    <a:bodyPr/>
                    <a:lstStyle/>
                    <a:p>
                      <a:pPr indent="0" marL="0">
                        <a:buNone/>
                      </a:pPr>
                      <a:r>
                        <a:rPr lang="en-US" sz="1200" b="1" dirty="0">
                          <a:solidFill>
                            <a:schemeClr val="bg1"/>
                          </a:solidFill>
                        </a:rPr>
                        <a:t>Playlist video</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Session</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Read</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r>
              <a:tr h="0">
                <a:tc>
                  <a:txBody>
                    <a:bodyPr/>
                    <a:lstStyle/>
                    <a:p>
                      <a:pPr indent="0" marL="0">
                        <a:buNone/>
                      </a:pPr>
                      <a:r>
                        <a:rPr lang="en-US" sz="1200" dirty="0">
                          <a:solidFill>
                            <a:schemeClr val="tx2"/>
                          </a:solidFill>
                        </a:rPr>
                        <a:t>STA Series, Week 6, Video 1: Revision - Basic Static Timing Analysis flow, Check_Timing clean</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7, App. A</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2"/>
                          </a:solidFill>
                        </a:rPr>
                        <a:t>STA Series, Week 6, Video 4: Report Timing types - endpoint, full, full clock expanded</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2</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B&amp;C Ch. 8; tool guide</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2"/>
                          </a:solidFill>
                        </a:rPr>
                        <a:t>STA Series, Week 7, Video 5: GBA vs PBA - Path Based Analysis</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3</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10; PT/Tempus docs</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2"/>
                          </a:solidFill>
                        </a:rPr>
                        <a:t>STA Series, Week 8, Video 4: Concurrent Multi Mode Multi Scenario Run (Members only)</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3</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B&amp;C Ch. 10; PT/Tempus docs</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accent1"/>
                </a:solidFill>
              </a:rPr>
              <a:t>Day 3: </a:t>
            </a:r>
            <a:pPr indent="0" marL="0">
              <a:buNone/>
            </a:pPr>
            <a:r>
              <a:rPr lang="en-US" sz="3200" b="1" dirty="0">
                <a:solidFill>
                  <a:schemeClr val="tx1"/>
                </a:solidFill>
              </a:rPr>
              <a:t>Margins &amp; full chip</a:t>
            </a:r>
            <a:endParaRPr lang="en-US" sz="3200" dirty="0"/>
          </a:p>
        </p:txBody>
      </p:sp>
      <p:sp>
        <p:nvSpPr>
          <p:cNvPr id="3" name="Session 1"/>
          <p:cNvSpPr/>
          <p:nvPr/>
        </p:nvSpPr>
        <p:spPr>
          <a:xfrm>
            <a:off x="457200" y="1051560"/>
            <a:ext cx="2560320" cy="3611880"/>
          </a:xfrm>
          <a:prstGeom prst="roundRect">
            <a:avLst>
              <a:gd name="adj" fmla="val 4286"/>
            </a:avLst>
          </a:prstGeom>
          <a:solidFill>
            <a:schemeClr val="bg2"/>
          </a:solidFill>
          <a:ln/>
        </p:spPr>
      </p:sp>
      <p:sp>
        <p:nvSpPr>
          <p:cNvPr id="4" name="Shape 2"/>
          <p:cNvSpPr/>
          <p:nvPr/>
        </p:nvSpPr>
        <p:spPr>
          <a:xfrm>
            <a:off x="640080" y="1234440"/>
            <a:ext cx="457200" cy="45720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749808" y="1344168"/>
            <a:ext cx="237744" cy="237744"/>
          </a:xfrm>
          <a:prstGeom prst="rect">
            <a:avLst/>
          </a:prstGeom>
        </p:spPr>
      </p:pic>
      <p:sp>
        <p:nvSpPr>
          <p:cNvPr id="6" name="Text 3"/>
          <p:cNvSpPr txBox="1"/>
          <p:nvPr/>
        </p:nvSpPr>
        <p:spPr>
          <a:xfrm>
            <a:off x="123444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1 · Morning</a:t>
            </a:r>
            <a:endParaRPr lang="en-US" sz="1100" dirty="0"/>
          </a:p>
        </p:txBody>
      </p:sp>
      <p:sp>
        <p:nvSpPr>
          <p:cNvPr id="7" name="Text 4"/>
          <p:cNvSpPr txBox="1"/>
          <p:nvPr/>
        </p:nvSpPr>
        <p:spPr>
          <a:xfrm>
            <a:off x="123444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Modes &amp; margins</a:t>
            </a:r>
            <a:endParaRPr lang="en-US" sz="1500" dirty="0"/>
          </a:p>
        </p:txBody>
      </p:sp>
      <p:sp>
        <p:nvSpPr>
          <p:cNvPr id="8" name="Text 5"/>
          <p:cNvSpPr txBox="1"/>
          <p:nvPr/>
        </p:nvSpPr>
        <p:spPr>
          <a:xfrm>
            <a:off x="64008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Timing modes</a:t>
            </a:r>
            <a:endParaRPr lang="en-US" sz="1400" dirty="0"/>
          </a:p>
          <a:p>
            <a:pPr marL="342900" indent="-342900">
              <a:spcAft>
                <a:spcPts val="600"/>
              </a:spcAft>
              <a:buSzPct val="100000"/>
              <a:buChar char="•"/>
            </a:pPr>
            <a:r>
              <a:rPr lang="en-US" sz="1400" dirty="0">
                <a:solidFill>
                  <a:schemeClr val="tx2"/>
                </a:solidFill>
              </a:rPr>
              <a:t>Clock uncertainty &amp; derates</a:t>
            </a:r>
            <a:endParaRPr lang="en-US" sz="1400" dirty="0"/>
          </a:p>
          <a:p>
            <a:pPr marL="342900" indent="-342900">
              <a:spcAft>
                <a:spcPts val="600"/>
              </a:spcAft>
              <a:buSzPct val="100000"/>
              <a:buChar char="•"/>
            </a:pPr>
            <a:r>
              <a:rPr lang="en-US" sz="1400" dirty="0">
                <a:solidFill>
                  <a:schemeClr val="tx2"/>
                </a:solidFill>
              </a:rPr>
              <a:t>Operating conditions, fixed derates</a:t>
            </a:r>
            <a:endParaRPr lang="en-US" sz="1400" dirty="0"/>
          </a:p>
          <a:p>
            <a:pPr marL="342900" indent="-342900">
              <a:spcAft>
                <a:spcPts val="600"/>
              </a:spcAft>
              <a:buSzPct val="100000"/>
              <a:buChar char="•"/>
            </a:pPr>
            <a:r>
              <a:rPr lang="en-US" sz="1400" dirty="0">
                <a:solidFill>
                  <a:schemeClr val="tx2"/>
                </a:solidFill>
              </a:rPr>
              <a:t>Flat OCV → AOCV → POCV → LVF</a:t>
            </a:r>
            <a:endParaRPr lang="en-US" sz="1400" dirty="0"/>
          </a:p>
        </p:txBody>
      </p:sp>
      <p:sp>
        <p:nvSpPr>
          <p:cNvPr id="9" name="Session 2"/>
          <p:cNvSpPr/>
          <p:nvPr/>
        </p:nvSpPr>
        <p:spPr>
          <a:xfrm>
            <a:off x="3291840" y="1051560"/>
            <a:ext cx="2560320" cy="3611880"/>
          </a:xfrm>
          <a:prstGeom prst="roundRect">
            <a:avLst>
              <a:gd name="adj" fmla="val 4286"/>
            </a:avLst>
          </a:prstGeom>
          <a:solidFill>
            <a:schemeClr val="bg2"/>
          </a:solidFill>
          <a:ln/>
        </p:spPr>
      </p:sp>
      <p:sp>
        <p:nvSpPr>
          <p:cNvPr id="10" name="Shape 7"/>
          <p:cNvSpPr/>
          <p:nvPr/>
        </p:nvSpPr>
        <p:spPr>
          <a:xfrm>
            <a:off x="3474720" y="1234440"/>
            <a:ext cx="457200" cy="45720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3584448" y="1344168"/>
            <a:ext cx="237744" cy="237744"/>
          </a:xfrm>
          <a:prstGeom prst="rect">
            <a:avLst/>
          </a:prstGeom>
        </p:spPr>
      </p:pic>
      <p:sp>
        <p:nvSpPr>
          <p:cNvPr id="12" name="Text 8"/>
          <p:cNvSpPr txBox="1"/>
          <p:nvPr/>
        </p:nvSpPr>
        <p:spPr>
          <a:xfrm>
            <a:off x="406908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2 · Midday</a:t>
            </a:r>
            <a:endParaRPr lang="en-US" sz="1100" dirty="0"/>
          </a:p>
        </p:txBody>
      </p:sp>
      <p:sp>
        <p:nvSpPr>
          <p:cNvPr id="13" name="Text 9"/>
          <p:cNvSpPr txBox="1"/>
          <p:nvPr/>
        </p:nvSpPr>
        <p:spPr>
          <a:xfrm>
            <a:off x="406908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Full-chip timing</a:t>
            </a:r>
            <a:endParaRPr lang="en-US" sz="1500" dirty="0"/>
          </a:p>
        </p:txBody>
      </p:sp>
      <p:sp>
        <p:nvSpPr>
          <p:cNvPr id="14" name="Text 10"/>
          <p:cNvSpPr txBox="1"/>
          <p:nvPr/>
        </p:nvSpPr>
        <p:spPr>
          <a:xfrm>
            <a:off x="347472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Block-to-block timing at top</a:t>
            </a:r>
            <a:endParaRPr lang="en-US" sz="1400" dirty="0"/>
          </a:p>
          <a:p>
            <a:pPr marL="342900" indent="-342900">
              <a:spcAft>
                <a:spcPts val="600"/>
              </a:spcAft>
              <a:buSzPct val="100000"/>
              <a:buChar char="•"/>
            </a:pPr>
            <a:r>
              <a:rPr lang="en-US" sz="1400" dirty="0">
                <a:solidFill>
                  <a:schemeClr val="tx2"/>
                </a:solidFill>
              </a:rPr>
              <a:t>Paths across top-level clocks</a:t>
            </a:r>
            <a:endParaRPr lang="en-US" sz="1400" dirty="0"/>
          </a:p>
          <a:p>
            <a:pPr marL="342900" indent="-342900">
              <a:spcAft>
                <a:spcPts val="600"/>
              </a:spcAft>
              <a:buSzPct val="100000"/>
              <a:buChar char="•"/>
            </a:pPr>
            <a:r>
              <a:rPr lang="en-US" sz="1400" dirty="0">
                <a:solidFill>
                  <a:schemeClr val="tx2"/>
                </a:solidFill>
              </a:rPr>
              <a:t>Hierarchical models: ETM, ILM</a:t>
            </a:r>
            <a:endParaRPr lang="en-US" sz="1400" dirty="0"/>
          </a:p>
        </p:txBody>
      </p:sp>
      <p:sp>
        <p:nvSpPr>
          <p:cNvPr id="15" name="Session 3"/>
          <p:cNvSpPr/>
          <p:nvPr/>
        </p:nvSpPr>
        <p:spPr>
          <a:xfrm>
            <a:off x="6126480" y="1051560"/>
            <a:ext cx="2560320" cy="3611880"/>
          </a:xfrm>
          <a:prstGeom prst="roundRect">
            <a:avLst>
              <a:gd name="adj" fmla="val 4286"/>
            </a:avLst>
          </a:prstGeom>
          <a:solidFill>
            <a:schemeClr val="bg2"/>
          </a:solidFill>
          <a:ln/>
        </p:spPr>
      </p:sp>
      <p:sp>
        <p:nvSpPr>
          <p:cNvPr id="16" name="Shape 12"/>
          <p:cNvSpPr/>
          <p:nvPr/>
        </p:nvSpPr>
        <p:spPr>
          <a:xfrm>
            <a:off x="6309360" y="1234440"/>
            <a:ext cx="457200" cy="457200"/>
          </a:xfrm>
          <a:prstGeom prst="ellipse">
            <a:avLst/>
          </a:prstGeom>
          <a:solidFill>
            <a:schemeClr val="accent2"/>
          </a:solidFill>
          <a:ln/>
        </p:spPr>
      </p:sp>
      <p:pic>
        <p:nvPicPr>
          <p:cNvPr id="17" name="Image 2" descr="preencoded.png">    </p:cNvPr>
          <p:cNvPicPr>
            <a:picLocks noChangeAspect="1"/>
          </p:cNvPicPr>
          <p:nvPr/>
        </p:nvPicPr>
        <p:blipFill>
          <a:blip r:embed="rId3"/>
          <a:stretch>
            <a:fillRect/>
          </a:stretch>
        </p:blipFill>
        <p:spPr>
          <a:xfrm>
            <a:off x="6419088" y="1344168"/>
            <a:ext cx="237744" cy="237744"/>
          </a:xfrm>
          <a:prstGeom prst="rect">
            <a:avLst/>
          </a:prstGeom>
        </p:spPr>
      </p:pic>
      <p:sp>
        <p:nvSpPr>
          <p:cNvPr id="18" name="Text 13"/>
          <p:cNvSpPr txBox="1"/>
          <p:nvPr/>
        </p:nvSpPr>
        <p:spPr>
          <a:xfrm>
            <a:off x="6903720" y="1234440"/>
            <a:ext cx="1645920" cy="228600"/>
          </a:xfrm>
          <a:prstGeom prst="rect">
            <a:avLst/>
          </a:prstGeom>
          <a:noFill/>
          <a:ln/>
        </p:spPr>
        <p:txBody>
          <a:bodyPr wrap="square" lIns="0" tIns="0" rIns="0" bIns="0" rtlCol="0" anchor="ctr"/>
          <a:lstStyle/>
          <a:p>
            <a:pPr indent="0" marL="0">
              <a:buNone/>
            </a:pPr>
            <a:r>
              <a:rPr lang="en-US" sz="1100" dirty="0">
                <a:solidFill>
                  <a:schemeClr val="accent3"/>
                </a:solidFill>
              </a:rPr>
              <a:t>Session 3 · Afternoon</a:t>
            </a:r>
            <a:endParaRPr lang="en-US" sz="1100" dirty="0"/>
          </a:p>
        </p:txBody>
      </p:sp>
      <p:sp>
        <p:nvSpPr>
          <p:cNvPr id="19" name="Text 14"/>
          <p:cNvSpPr txBox="1"/>
          <p:nvPr/>
        </p:nvSpPr>
        <p:spPr>
          <a:xfrm>
            <a:off x="6903720" y="1444752"/>
            <a:ext cx="1691640" cy="457200"/>
          </a:xfrm>
          <a:prstGeom prst="rect">
            <a:avLst/>
          </a:prstGeom>
          <a:noFill/>
          <a:ln/>
        </p:spPr>
        <p:txBody>
          <a:bodyPr wrap="square" lIns="0" tIns="0" rIns="0" bIns="0" rtlCol="0" anchor="t"/>
          <a:lstStyle/>
          <a:p>
            <a:pPr indent="0" marL="0">
              <a:buNone/>
            </a:pPr>
            <a:r>
              <a:rPr lang="en-US" sz="1500" b="1" dirty="0">
                <a:solidFill>
                  <a:schemeClr val="tx1"/>
                </a:solidFill>
              </a:rPr>
              <a:t>Crosstalk &amp; pessimism</a:t>
            </a:r>
            <a:endParaRPr lang="en-US" sz="1500" dirty="0"/>
          </a:p>
        </p:txBody>
      </p:sp>
      <p:sp>
        <p:nvSpPr>
          <p:cNvPr id="20" name="Text 15"/>
          <p:cNvSpPr txBox="1"/>
          <p:nvPr/>
        </p:nvSpPr>
        <p:spPr>
          <a:xfrm>
            <a:off x="6309360" y="201168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Crosstalk delay on clock segments</a:t>
            </a:r>
            <a:endParaRPr lang="en-US" sz="1400" dirty="0"/>
          </a:p>
          <a:p>
            <a:pPr marL="342900" indent="-342900">
              <a:spcAft>
                <a:spcPts val="600"/>
              </a:spcAft>
              <a:buSzPct val="100000"/>
              <a:buChar char="•"/>
            </a:pPr>
            <a:r>
              <a:rPr lang="en-US" sz="1400" dirty="0">
                <a:solidFill>
                  <a:schemeClr val="tx2"/>
                </a:solidFill>
              </a:rPr>
              <a:t>CRPR / CPPR</a:t>
            </a:r>
            <a:endParaRPr lang="en-US" sz="1400" dirty="0"/>
          </a:p>
          <a:p>
            <a:pPr marL="342900" indent="-342900">
              <a:spcAft>
                <a:spcPts val="600"/>
              </a:spcAft>
              <a:buSzPct val="100000"/>
              <a:buChar char="•"/>
            </a:pPr>
            <a:r>
              <a:rPr lang="en-US" sz="1400" dirty="0">
                <a:solidFill>
                  <a:schemeClr val="tx2"/>
                </a:solidFill>
              </a:rPr>
              <a:t>CPPR with derates &amp; crosstalk</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accent1"/>
                </a:solidFill>
              </a:rPr>
              <a:t>Day 3: </a:t>
            </a:r>
            <a:pPr indent="0" marL="0">
              <a:buNone/>
            </a:pPr>
            <a:r>
              <a:rPr lang="en-US" sz="3200" b="1" dirty="0">
                <a:solidFill>
                  <a:schemeClr val="tx1"/>
                </a:solidFill>
              </a:rPr>
              <a:t>playlist &amp; reading</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572000"/>
                <a:gridCol w="1371600"/>
                <a:gridCol w="2286000"/>
              </a:tblGrid>
              <a:tr h="0">
                <a:tc>
                  <a:txBody>
                    <a:bodyPr/>
                    <a:lstStyle/>
                    <a:p>
                      <a:pPr indent="0" marL="0">
                        <a:buNone/>
                      </a:pPr>
                      <a:r>
                        <a:rPr lang="en-US" sz="1200" b="1" dirty="0">
                          <a:solidFill>
                            <a:schemeClr val="bg1"/>
                          </a:solidFill>
                        </a:rPr>
                        <a:t>Playlist video</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Session</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Read</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r>
              <a:tr h="0">
                <a:tc>
                  <a:txBody>
                    <a:bodyPr/>
                    <a:lstStyle/>
                    <a:p>
                      <a:pPr indent="0" marL="0">
                        <a:buNone/>
                      </a:pPr>
                      <a:r>
                        <a:rPr lang="en-US" sz="1200" dirty="0">
                          <a:solidFill>
                            <a:schemeClr val="tx2"/>
                          </a:solidFill>
                        </a:rPr>
                        <a:t>STA Series, Week 10, Video 1: Timing Modes</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7</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2"/>
                          </a:solidFill>
                        </a:rPr>
                        <a:t>STA Series, Week 10, Video 2: Timing Margin - Clock Uncertainty and Derates (Members only)</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B&amp;C Ch. 7, Ch. 10</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2"/>
                          </a:solidFill>
                        </a:rPr>
                        <a:t>STA Series, Week 11, Video 3: Operating Conditions and Fixed derates (Members only)</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3, Ch. 10</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2"/>
                          </a:solidFill>
                        </a:rPr>
                        <a:t>STA Series, Week 11, Video 6: Full Chip Timing P2 - Block to Block timing at full chip</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2</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B&amp;C Ch. 9–10</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2"/>
                          </a:solidFill>
                        </a:rPr>
                        <a:t>STA Series, Week 12, Video 1: Full Chip Timing P3, timing paths across different top level clocks (Members only)</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2</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8–9</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2"/>
                          </a:solidFill>
                        </a:rPr>
                        <a:t>STA Series, Week 12, Video 2: Full Chip Timing, Impact of Crosstalk delay on Full Chip Clock Segment</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3</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B&amp;C Ch. 6</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2"/>
                          </a:solidFill>
                        </a:rPr>
                        <a:t>STA Series, Week 12: Explanation of CRPR/CPPR with derates and Crosstalk</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3</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B&amp;C Ch. 6, Ch. 10</a:t>
                      </a:r>
                      <a:endParaRPr lang="en-US" sz="1200" dirty="0"/>
                    </a:p>
                  </a:txBody>
                  <a:tcPr marL="54864" marR="54864" marT="54864" marB="54864"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Six kinds of STA constraints</a:t>
            </a:r>
            <a:endParaRPr lang="en-US" sz="3200" dirty="0"/>
          </a:p>
        </p:txBody>
      </p:sp>
      <p:sp>
        <p:nvSpPr>
          <p:cNvPr id="3" name="Constraint Clock definition"/>
          <p:cNvSpPr/>
          <p:nvPr/>
        </p:nvSpPr>
        <p:spPr>
          <a:xfrm>
            <a:off x="457200" y="1005840"/>
            <a:ext cx="2560320" cy="1691640"/>
          </a:xfrm>
          <a:prstGeom prst="roundRect">
            <a:avLst>
              <a:gd name="adj" fmla="val 5405"/>
            </a:avLst>
          </a:prstGeom>
          <a:solidFill>
            <a:schemeClr val="bg2"/>
          </a:solidFill>
          <a:ln/>
        </p:spPr>
      </p:sp>
      <p:sp>
        <p:nvSpPr>
          <p:cNvPr id="4" name="Shape 2"/>
          <p:cNvSpPr/>
          <p:nvPr/>
        </p:nvSpPr>
        <p:spPr>
          <a:xfrm>
            <a:off x="621792" y="1170432"/>
            <a:ext cx="402336" cy="402336"/>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22376" y="1271016"/>
            <a:ext cx="201168" cy="201168"/>
          </a:xfrm>
          <a:prstGeom prst="rect">
            <a:avLst/>
          </a:prstGeom>
        </p:spPr>
      </p:pic>
      <p:sp>
        <p:nvSpPr>
          <p:cNvPr id="6" name="Text 3"/>
          <p:cNvSpPr txBox="1"/>
          <p:nvPr/>
        </p:nvSpPr>
        <p:spPr>
          <a:xfrm>
            <a:off x="1143000" y="1170432"/>
            <a:ext cx="1783080" cy="402336"/>
          </a:xfrm>
          <a:prstGeom prst="rect">
            <a:avLst/>
          </a:prstGeom>
          <a:noFill/>
          <a:ln/>
        </p:spPr>
        <p:txBody>
          <a:bodyPr wrap="square" lIns="0" tIns="0" rIns="0" bIns="0" rtlCol="0" anchor="ctr"/>
          <a:lstStyle/>
          <a:p>
            <a:pPr indent="0" marL="0">
              <a:buNone/>
            </a:pPr>
            <a:r>
              <a:rPr lang="en-US" sz="1500" b="1" dirty="0">
                <a:solidFill>
                  <a:schemeClr val="tx1"/>
                </a:solidFill>
              </a:rPr>
              <a:t>Clock definition</a:t>
            </a:r>
            <a:endParaRPr lang="en-US" sz="1500" dirty="0"/>
          </a:p>
        </p:txBody>
      </p:sp>
      <p:sp>
        <p:nvSpPr>
          <p:cNvPr id="7" name="Text 4"/>
          <p:cNvSpPr txBox="1"/>
          <p:nvPr/>
        </p:nvSpPr>
        <p:spPr>
          <a:xfrm>
            <a:off x="621792" y="1691640"/>
            <a:ext cx="228600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create_clock</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create_generated_clock</a:t>
            </a:r>
            <a:endParaRPr lang="en-US" sz="1100" dirty="0"/>
          </a:p>
        </p:txBody>
      </p:sp>
      <p:sp>
        <p:nvSpPr>
          <p:cNvPr id="8" name="Constraint Clock characteristics"/>
          <p:cNvSpPr/>
          <p:nvPr/>
        </p:nvSpPr>
        <p:spPr>
          <a:xfrm>
            <a:off x="3291840" y="1005840"/>
            <a:ext cx="2560320" cy="1691640"/>
          </a:xfrm>
          <a:prstGeom prst="roundRect">
            <a:avLst>
              <a:gd name="adj" fmla="val 5405"/>
            </a:avLst>
          </a:prstGeom>
          <a:solidFill>
            <a:schemeClr val="bg2"/>
          </a:solidFill>
          <a:ln/>
        </p:spPr>
      </p:sp>
      <p:sp>
        <p:nvSpPr>
          <p:cNvPr id="9" name="Shape 6"/>
          <p:cNvSpPr/>
          <p:nvPr/>
        </p:nvSpPr>
        <p:spPr>
          <a:xfrm>
            <a:off x="3456432" y="1170432"/>
            <a:ext cx="402336" cy="402336"/>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557016" y="1271016"/>
            <a:ext cx="201168" cy="201168"/>
          </a:xfrm>
          <a:prstGeom prst="rect">
            <a:avLst/>
          </a:prstGeom>
        </p:spPr>
      </p:pic>
      <p:sp>
        <p:nvSpPr>
          <p:cNvPr id="11" name="Text 7"/>
          <p:cNvSpPr txBox="1"/>
          <p:nvPr/>
        </p:nvSpPr>
        <p:spPr>
          <a:xfrm>
            <a:off x="3977640" y="1170432"/>
            <a:ext cx="1783080" cy="402336"/>
          </a:xfrm>
          <a:prstGeom prst="rect">
            <a:avLst/>
          </a:prstGeom>
          <a:noFill/>
          <a:ln/>
        </p:spPr>
        <p:txBody>
          <a:bodyPr wrap="square" lIns="0" tIns="0" rIns="0" bIns="0" rtlCol="0" anchor="ctr"/>
          <a:lstStyle/>
          <a:p>
            <a:pPr indent="0" marL="0">
              <a:buNone/>
            </a:pPr>
            <a:r>
              <a:rPr lang="en-US" sz="1500" b="1" dirty="0">
                <a:solidFill>
                  <a:schemeClr val="tx1"/>
                </a:solidFill>
              </a:rPr>
              <a:t>Clock characteristics</a:t>
            </a:r>
            <a:endParaRPr lang="en-US" sz="1500" dirty="0"/>
          </a:p>
        </p:txBody>
      </p:sp>
      <p:sp>
        <p:nvSpPr>
          <p:cNvPr id="12" name="Text 8"/>
          <p:cNvSpPr txBox="1"/>
          <p:nvPr/>
        </p:nvSpPr>
        <p:spPr>
          <a:xfrm>
            <a:off x="3456432" y="1691640"/>
            <a:ext cx="228600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set_clock_latency · set_clock_uncertainty</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set_clock_transition · set_propagated_clock</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set_clock_groups · set_clock_sense</a:t>
            </a:r>
            <a:endParaRPr lang="en-US" sz="1100" dirty="0"/>
          </a:p>
        </p:txBody>
      </p:sp>
      <p:sp>
        <p:nvSpPr>
          <p:cNvPr id="13" name="Constraint I/O &amp; environment"/>
          <p:cNvSpPr/>
          <p:nvPr/>
        </p:nvSpPr>
        <p:spPr>
          <a:xfrm>
            <a:off x="6126480" y="1005840"/>
            <a:ext cx="2560320" cy="1691640"/>
          </a:xfrm>
          <a:prstGeom prst="roundRect">
            <a:avLst>
              <a:gd name="adj" fmla="val 5405"/>
            </a:avLst>
          </a:prstGeom>
          <a:solidFill>
            <a:schemeClr val="bg2"/>
          </a:solidFill>
          <a:ln/>
        </p:spPr>
      </p:sp>
      <p:sp>
        <p:nvSpPr>
          <p:cNvPr id="14" name="Shape 10"/>
          <p:cNvSpPr/>
          <p:nvPr/>
        </p:nvSpPr>
        <p:spPr>
          <a:xfrm>
            <a:off x="6291072" y="1170432"/>
            <a:ext cx="402336" cy="402336"/>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391656" y="1271016"/>
            <a:ext cx="201168" cy="201168"/>
          </a:xfrm>
          <a:prstGeom prst="rect">
            <a:avLst/>
          </a:prstGeom>
        </p:spPr>
      </p:pic>
      <p:sp>
        <p:nvSpPr>
          <p:cNvPr id="16" name="Text 11"/>
          <p:cNvSpPr txBox="1"/>
          <p:nvPr/>
        </p:nvSpPr>
        <p:spPr>
          <a:xfrm>
            <a:off x="6812280" y="1170432"/>
            <a:ext cx="1783080" cy="402336"/>
          </a:xfrm>
          <a:prstGeom prst="rect">
            <a:avLst/>
          </a:prstGeom>
          <a:noFill/>
          <a:ln/>
        </p:spPr>
        <p:txBody>
          <a:bodyPr wrap="square" lIns="0" tIns="0" rIns="0" bIns="0" rtlCol="0" anchor="ctr"/>
          <a:lstStyle/>
          <a:p>
            <a:pPr indent="0" marL="0">
              <a:buNone/>
            </a:pPr>
            <a:r>
              <a:rPr lang="en-US" sz="1500" b="1" dirty="0">
                <a:solidFill>
                  <a:schemeClr val="tx1"/>
                </a:solidFill>
              </a:rPr>
              <a:t>I/O &amp; environment</a:t>
            </a:r>
            <a:endParaRPr lang="en-US" sz="1500" dirty="0"/>
          </a:p>
        </p:txBody>
      </p:sp>
      <p:sp>
        <p:nvSpPr>
          <p:cNvPr id="17" name="Text 12"/>
          <p:cNvSpPr txBox="1"/>
          <p:nvPr/>
        </p:nvSpPr>
        <p:spPr>
          <a:xfrm>
            <a:off x="6291072" y="1691640"/>
            <a:ext cx="228600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set_input_delay · set_output_delay</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set_driving_cell · set_input_transition</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set_load</a:t>
            </a:r>
            <a:endParaRPr lang="en-US" sz="1100" dirty="0"/>
          </a:p>
        </p:txBody>
      </p:sp>
      <p:sp>
        <p:nvSpPr>
          <p:cNvPr id="18" name="Constraint Timing exceptions"/>
          <p:cNvSpPr/>
          <p:nvPr/>
        </p:nvSpPr>
        <p:spPr>
          <a:xfrm>
            <a:off x="457200" y="2880360"/>
            <a:ext cx="2560320" cy="1691640"/>
          </a:xfrm>
          <a:prstGeom prst="roundRect">
            <a:avLst>
              <a:gd name="adj" fmla="val 5405"/>
            </a:avLst>
          </a:prstGeom>
          <a:solidFill>
            <a:schemeClr val="bg2"/>
          </a:solidFill>
          <a:ln/>
        </p:spPr>
      </p:sp>
      <p:sp>
        <p:nvSpPr>
          <p:cNvPr id="19" name="Shape 14"/>
          <p:cNvSpPr/>
          <p:nvPr/>
        </p:nvSpPr>
        <p:spPr>
          <a:xfrm>
            <a:off x="621792" y="3044952"/>
            <a:ext cx="402336" cy="402336"/>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722376" y="3145536"/>
            <a:ext cx="201168" cy="201168"/>
          </a:xfrm>
          <a:prstGeom prst="rect">
            <a:avLst/>
          </a:prstGeom>
        </p:spPr>
      </p:pic>
      <p:sp>
        <p:nvSpPr>
          <p:cNvPr id="21" name="Text 15"/>
          <p:cNvSpPr txBox="1"/>
          <p:nvPr/>
        </p:nvSpPr>
        <p:spPr>
          <a:xfrm>
            <a:off x="1143000" y="3044952"/>
            <a:ext cx="1783080" cy="402336"/>
          </a:xfrm>
          <a:prstGeom prst="rect">
            <a:avLst/>
          </a:prstGeom>
          <a:noFill/>
          <a:ln/>
        </p:spPr>
        <p:txBody>
          <a:bodyPr wrap="square" lIns="0" tIns="0" rIns="0" bIns="0" rtlCol="0" anchor="ctr"/>
          <a:lstStyle/>
          <a:p>
            <a:pPr indent="0" marL="0">
              <a:buNone/>
            </a:pPr>
            <a:r>
              <a:rPr lang="en-US" sz="1500" b="1" dirty="0">
                <a:solidFill>
                  <a:schemeClr val="tx1"/>
                </a:solidFill>
              </a:rPr>
              <a:t>Timing exceptions</a:t>
            </a:r>
            <a:endParaRPr lang="en-US" sz="1500" dirty="0"/>
          </a:p>
        </p:txBody>
      </p:sp>
      <p:sp>
        <p:nvSpPr>
          <p:cNvPr id="22" name="Text 16"/>
          <p:cNvSpPr txBox="1"/>
          <p:nvPr/>
        </p:nvSpPr>
        <p:spPr>
          <a:xfrm>
            <a:off x="621792" y="3566160"/>
            <a:ext cx="228600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set_false_path · set_multicycle_path</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set_max_delay · set_min_delay</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set_disable_timing</a:t>
            </a:r>
            <a:endParaRPr lang="en-US" sz="1100" dirty="0"/>
          </a:p>
        </p:txBody>
      </p:sp>
      <p:sp>
        <p:nvSpPr>
          <p:cNvPr id="23" name="Constraint Design rules (DRC)"/>
          <p:cNvSpPr/>
          <p:nvPr/>
        </p:nvSpPr>
        <p:spPr>
          <a:xfrm>
            <a:off x="3291840" y="2880360"/>
            <a:ext cx="2560320" cy="1691640"/>
          </a:xfrm>
          <a:prstGeom prst="roundRect">
            <a:avLst>
              <a:gd name="adj" fmla="val 5405"/>
            </a:avLst>
          </a:prstGeom>
          <a:solidFill>
            <a:schemeClr val="bg2"/>
          </a:solidFill>
          <a:ln/>
        </p:spPr>
      </p:sp>
      <p:sp>
        <p:nvSpPr>
          <p:cNvPr id="24" name="Shape 18"/>
          <p:cNvSpPr/>
          <p:nvPr/>
        </p:nvSpPr>
        <p:spPr>
          <a:xfrm>
            <a:off x="3456432" y="3044952"/>
            <a:ext cx="402336" cy="402336"/>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3557016" y="3145536"/>
            <a:ext cx="201168" cy="201168"/>
          </a:xfrm>
          <a:prstGeom prst="rect">
            <a:avLst/>
          </a:prstGeom>
        </p:spPr>
      </p:pic>
      <p:sp>
        <p:nvSpPr>
          <p:cNvPr id="26" name="Text 19"/>
          <p:cNvSpPr txBox="1"/>
          <p:nvPr/>
        </p:nvSpPr>
        <p:spPr>
          <a:xfrm>
            <a:off x="3977640" y="3044952"/>
            <a:ext cx="1783080" cy="402336"/>
          </a:xfrm>
          <a:prstGeom prst="rect">
            <a:avLst/>
          </a:prstGeom>
          <a:noFill/>
          <a:ln/>
        </p:spPr>
        <p:txBody>
          <a:bodyPr wrap="square" lIns="0" tIns="0" rIns="0" bIns="0" rtlCol="0" anchor="ctr"/>
          <a:lstStyle/>
          <a:p>
            <a:pPr indent="0" marL="0">
              <a:buNone/>
            </a:pPr>
            <a:r>
              <a:rPr lang="en-US" sz="1500" b="1" dirty="0">
                <a:solidFill>
                  <a:schemeClr val="tx1"/>
                </a:solidFill>
              </a:rPr>
              <a:t>Design rules (DRC)</a:t>
            </a:r>
            <a:endParaRPr lang="en-US" sz="1500" dirty="0"/>
          </a:p>
        </p:txBody>
      </p:sp>
      <p:sp>
        <p:nvSpPr>
          <p:cNvPr id="27" name="Text 20"/>
          <p:cNvSpPr txBox="1"/>
          <p:nvPr/>
        </p:nvSpPr>
        <p:spPr>
          <a:xfrm>
            <a:off x="3456432" y="3566160"/>
            <a:ext cx="228600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set_max_transition</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set_max_capacitance</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set_max_fanout</a:t>
            </a:r>
            <a:endParaRPr lang="en-US" sz="1100" dirty="0"/>
          </a:p>
        </p:txBody>
      </p:sp>
      <p:sp>
        <p:nvSpPr>
          <p:cNvPr id="28" name="Constraint Modes &amp; analysis control"/>
          <p:cNvSpPr/>
          <p:nvPr/>
        </p:nvSpPr>
        <p:spPr>
          <a:xfrm>
            <a:off x="6126480" y="2880360"/>
            <a:ext cx="2560320" cy="1691640"/>
          </a:xfrm>
          <a:prstGeom prst="roundRect">
            <a:avLst>
              <a:gd name="adj" fmla="val 5405"/>
            </a:avLst>
          </a:prstGeom>
          <a:solidFill>
            <a:schemeClr val="bg2"/>
          </a:solidFill>
          <a:ln/>
        </p:spPr>
      </p:sp>
      <p:sp>
        <p:nvSpPr>
          <p:cNvPr id="29" name="Shape 22"/>
          <p:cNvSpPr/>
          <p:nvPr/>
        </p:nvSpPr>
        <p:spPr>
          <a:xfrm>
            <a:off x="6291072" y="3044952"/>
            <a:ext cx="402336" cy="402336"/>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6391656" y="3145536"/>
            <a:ext cx="201168" cy="201168"/>
          </a:xfrm>
          <a:prstGeom prst="rect">
            <a:avLst/>
          </a:prstGeom>
        </p:spPr>
      </p:pic>
      <p:sp>
        <p:nvSpPr>
          <p:cNvPr id="31" name="Text 23"/>
          <p:cNvSpPr txBox="1"/>
          <p:nvPr/>
        </p:nvSpPr>
        <p:spPr>
          <a:xfrm>
            <a:off x="6812280" y="3044952"/>
            <a:ext cx="1783080" cy="402336"/>
          </a:xfrm>
          <a:prstGeom prst="rect">
            <a:avLst/>
          </a:prstGeom>
          <a:noFill/>
          <a:ln/>
        </p:spPr>
        <p:txBody>
          <a:bodyPr wrap="square" lIns="0" tIns="0" rIns="0" bIns="0" rtlCol="0" anchor="ctr"/>
          <a:lstStyle/>
          <a:p>
            <a:pPr indent="0" marL="0">
              <a:buNone/>
            </a:pPr>
            <a:r>
              <a:rPr lang="en-US" sz="1500" b="1" dirty="0">
                <a:solidFill>
                  <a:schemeClr val="tx1"/>
                </a:solidFill>
              </a:rPr>
              <a:t>Modes &amp; analysis control</a:t>
            </a:r>
            <a:endParaRPr lang="en-US" sz="1500" dirty="0"/>
          </a:p>
        </p:txBody>
      </p:sp>
      <p:sp>
        <p:nvSpPr>
          <p:cNvPr id="32" name="Text 24"/>
          <p:cNvSpPr txBox="1"/>
          <p:nvPr/>
        </p:nvSpPr>
        <p:spPr>
          <a:xfrm>
            <a:off x="6291072" y="3566160"/>
            <a:ext cx="228600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set_case_analysis · set_operating_conditions</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set_timing_derate · set_data_check</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group_path</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What each constraint tells the tool</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834640"/>
                <a:gridCol w="4389120"/>
                <a:gridCol w="1005840"/>
              </a:tblGrid>
              <a:tr h="0">
                <a:tc>
                  <a:txBody>
                    <a:bodyPr/>
                    <a:lstStyle/>
                    <a:p>
                      <a:pPr indent="0" marL="0">
                        <a:buNone/>
                      </a:pPr>
                      <a:r>
                        <a:rPr lang="en-US" sz="1100" b="1" dirty="0">
                          <a:solidFill>
                            <a:schemeClr val="bg1"/>
                          </a:solidFill>
                        </a:rPr>
                        <a:t>Constraint</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What it tells the tool</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Plan</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r>
              <a:tr h="0">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create_clock / create_generated_clock</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rPr>
                        <a:t>Defines clocks: period and waveform on a port or pin, or a clock derived from another</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rPr>
                        <a:t>Day 2 · S1</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set_clock_uncertainty / latency</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Margins for jitter and skew; source and network clock delay before CTS</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Day 3 · S1</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set_clock_groups</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rPr>
                        <a:t>Declares clocks that never time against each other (e.g. asynchronous)</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rPr>
                        <a:t>Day 3 · S2</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set_input_delay / set_output_delay</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Arrival time at inputs and required time at outputs, relative to a clock</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Day 2 · S1</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set_driving_cell / set_load</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rPr>
                        <a:t>Models the drive of external logic and the load on outputs</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rPr>
                        <a:t>Day 2 · S1</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set_false_path / set_multicycle_path</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Removes paths from analysis, or allows more than one cycle</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Day 2 · S1</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set_max_transition / capacitance</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rPr>
                        <a:t>Design-rule limits on slew and load</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rPr>
                        <a:t>Day 1 · S3</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set_case_analysis</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Ties pins to constants to select a timing mode</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Day 3 · S1</a:t>
                      </a:r>
                      <a:endParaRPr lang="en-US" sz="11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Timing analysis in each tool</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920240"/>
                <a:gridCol w="1371600"/>
                <a:gridCol w="4937760"/>
              </a:tblGrid>
              <a:tr h="0">
                <a:tc>
                  <a:txBody>
                    <a:bodyPr/>
                    <a:lstStyle/>
                    <a:p>
                      <a:pPr indent="0" marL="0">
                        <a:buNone/>
                      </a:pPr>
                      <a:r>
                        <a:rPr lang="en-US" sz="1200" b="1" dirty="0">
                          <a:solidFill>
                            <a:schemeClr val="bg1"/>
                          </a:solidFill>
                        </a:rPr>
                        <a:t>Tool</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Role</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Timing analysis supported</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tx1"/>
                    </a:solidFill>
                  </a:tcPr>
                </a:tc>
              </a:tr>
              <a:tr h="0">
                <a:tc>
                  <a:txBody>
                    <a:bodyPr/>
                    <a:lstStyle/>
                    <a:p>
                      <a:pPr indent="0" marL="0">
                        <a:buNone/>
                      </a:pPr>
                      <a:r>
                        <a:rPr lang="en-US" sz="1200" b="1" dirty="0">
                          <a:solidFill>
                            <a:schemeClr val="tx2"/>
                          </a:solidFill>
                        </a:rPr>
                        <a:t>Synopsys PrimeTime</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Golden signoff</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SI, AOCV/POCV, moments; PBA via HyperTrace; multi-scenario/corner; ECO; IR, thermal, aging-aware</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b="1" dirty="0">
                          <a:solidFill>
                            <a:schemeClr val="tx2"/>
                          </a:solidFill>
                        </a:rPr>
                        <a:t>Cadence Tempus</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Signoff</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SI, SOCV/LVF; concurrent MMMC; distributed PBA; ETM/ILM/SmartScope; ECO; IR-aware with Voltus</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2"/>
                          </a:solidFill>
                        </a:rPr>
                        <a:t>Fusion Compiler / ICC II</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Implementation</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PrimeTime delay calc; exhaustive PBA; signoff ECO</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b="1" dirty="0">
                          <a:solidFill>
                            <a:schemeClr val="tx2"/>
                          </a:solidFill>
                        </a:rPr>
                        <a:t>Genus / Innovus</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Synthesis / P&amp;R</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Concurrent MMMC (Genus); threaded MMMC (Innovus); Tempus integration</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2"/>
                          </a:solidFill>
                        </a:rPr>
                        <a:t>Siemens Aprisa</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P&amp;R</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MCMM timing; OCV methods incl. LVF</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0">
                <a:tc>
                  <a:txBody>
                    <a:bodyPr/>
                    <a:lstStyle/>
                    <a:p>
                      <a:pPr indent="0" marL="0">
                        <a:buNone/>
                      </a:pPr>
                      <a:r>
                        <a:rPr lang="en-US" sz="1200" b="1" dirty="0">
                          <a:solidFill>
                            <a:schemeClr val="tx2"/>
                          </a:solidFill>
                        </a:rPr>
                        <a:t>OpenSTA / OpenROAD</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Open source</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Liberty, SDC, SDF, SPEF; setup/hold, exceptions — the free lab tool</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2"/>
                          </a:solidFill>
                        </a:rPr>
                        <a:t>Ansys Path FX</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Path specialist</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SPICE-accurate path-based timing; corner &amp; statistical results</a:t>
                      </a:r>
                      <a:endParaRPr lang="en-US" sz="1200" dirty="0"/>
                    </a:p>
                  </a:txBody>
                  <a:tcPr marL="45720" marR="45720" marT="45720" marB="45720"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Modelling stack: basic → accurate</a:t>
            </a:r>
            <a:endParaRPr lang="en-US" sz="3200" dirty="0"/>
          </a:p>
        </p:txBody>
      </p:sp>
      <p:sp>
        <p:nvSpPr>
          <p:cNvPr id="3" name="Text 1"/>
          <p:cNvSpPr txBox="1"/>
          <p:nvPr/>
        </p:nvSpPr>
        <p:spPr>
          <a:xfrm>
            <a:off x="457200" y="1005840"/>
            <a:ext cx="2103120" cy="475488"/>
          </a:xfrm>
          <a:prstGeom prst="rect">
            <a:avLst/>
          </a:prstGeom>
          <a:noFill/>
          <a:ln/>
        </p:spPr>
        <p:txBody>
          <a:bodyPr wrap="square" lIns="0" tIns="0" rIns="0" bIns="0" rtlCol="0" anchor="ctr"/>
          <a:lstStyle/>
          <a:p>
            <a:pPr indent="0" marL="0">
              <a:buNone/>
            </a:pPr>
            <a:r>
              <a:rPr lang="en-US" sz="1400" b="1" dirty="0">
                <a:solidFill>
                  <a:schemeClr val="tx1"/>
                </a:solidFill>
              </a:rPr>
              <a:t>Cell delay</a:t>
            </a:r>
            <a:endParaRPr lang="en-US" sz="1400" dirty="0"/>
          </a:p>
        </p:txBody>
      </p:sp>
      <p:sp>
        <p:nvSpPr>
          <p:cNvPr id="4" name="Shape 2"/>
          <p:cNvSpPr/>
          <p:nvPr/>
        </p:nvSpPr>
        <p:spPr>
          <a:xfrm>
            <a:off x="2560320" y="1005840"/>
            <a:ext cx="3008376" cy="475488"/>
          </a:xfrm>
          <a:prstGeom prst="roundRect">
            <a:avLst>
              <a:gd name="adj" fmla="val 15385"/>
            </a:avLst>
          </a:prstGeom>
          <a:solidFill>
            <a:schemeClr val="accent5"/>
          </a:solidFill>
          <a:ln/>
        </p:spPr>
      </p:sp>
      <p:sp>
        <p:nvSpPr>
          <p:cNvPr id="5" name="Text 3"/>
          <p:cNvSpPr txBox="1"/>
          <p:nvPr/>
        </p:nvSpPr>
        <p:spPr>
          <a:xfrm>
            <a:off x="2560320" y="1005840"/>
            <a:ext cx="3008376" cy="475488"/>
          </a:xfrm>
          <a:prstGeom prst="rect">
            <a:avLst/>
          </a:prstGeom>
          <a:noFill/>
          <a:ln/>
        </p:spPr>
        <p:txBody>
          <a:bodyPr wrap="square" lIns="0" tIns="0" rIns="0" bIns="0" rtlCol="0" anchor="ctr"/>
          <a:lstStyle/>
          <a:p>
            <a:pPr algn="ctr" indent="0" marL="0">
              <a:buNone/>
            </a:pPr>
            <a:r>
              <a:rPr lang="en-US" sz="1400" b="1" dirty="0">
                <a:solidFill>
                  <a:schemeClr val="tx1"/>
                </a:solidFill>
              </a:rPr>
              <a:t>NLDM</a:t>
            </a:r>
            <a:endParaRPr lang="en-US" sz="1400" dirty="0"/>
          </a:p>
        </p:txBody>
      </p:sp>
      <p:sp>
        <p:nvSpPr>
          <p:cNvPr id="6" name="Shape 4"/>
          <p:cNvSpPr/>
          <p:nvPr/>
        </p:nvSpPr>
        <p:spPr>
          <a:xfrm>
            <a:off x="5678424" y="1005840"/>
            <a:ext cx="3008376" cy="475488"/>
          </a:xfrm>
          <a:prstGeom prst="roundRect">
            <a:avLst>
              <a:gd name="adj" fmla="val 15385"/>
            </a:avLst>
          </a:prstGeom>
          <a:solidFill>
            <a:schemeClr val="accent1"/>
          </a:solidFill>
          <a:ln/>
        </p:spPr>
      </p:sp>
      <p:sp>
        <p:nvSpPr>
          <p:cNvPr id="7" name="Text 5"/>
          <p:cNvSpPr txBox="1"/>
          <p:nvPr/>
        </p:nvSpPr>
        <p:spPr>
          <a:xfrm>
            <a:off x="5678424" y="1005840"/>
            <a:ext cx="3008376" cy="475488"/>
          </a:xfrm>
          <a:prstGeom prst="rect">
            <a:avLst/>
          </a:prstGeom>
          <a:noFill/>
          <a:ln/>
        </p:spPr>
        <p:txBody>
          <a:bodyPr wrap="square" lIns="0" tIns="0" rIns="0" bIns="0" rtlCol="0" anchor="ctr"/>
          <a:lstStyle/>
          <a:p>
            <a:pPr algn="ctr" indent="0" marL="0">
              <a:buNone/>
            </a:pPr>
            <a:r>
              <a:rPr lang="en-US" sz="1400" b="1" dirty="0">
                <a:solidFill>
                  <a:schemeClr val="bg1"/>
                </a:solidFill>
              </a:rPr>
              <a:t>CCS / ECSM</a:t>
            </a:r>
            <a:endParaRPr lang="en-US" sz="1400" dirty="0"/>
          </a:p>
        </p:txBody>
      </p:sp>
      <p:sp>
        <p:nvSpPr>
          <p:cNvPr id="8" name="Text 6"/>
          <p:cNvSpPr txBox="1"/>
          <p:nvPr/>
        </p:nvSpPr>
        <p:spPr>
          <a:xfrm>
            <a:off x="457200" y="1609344"/>
            <a:ext cx="2103120" cy="475488"/>
          </a:xfrm>
          <a:prstGeom prst="rect">
            <a:avLst/>
          </a:prstGeom>
          <a:noFill/>
          <a:ln/>
        </p:spPr>
        <p:txBody>
          <a:bodyPr wrap="square" lIns="0" tIns="0" rIns="0" bIns="0" rtlCol="0" anchor="ctr"/>
          <a:lstStyle/>
          <a:p>
            <a:pPr indent="0" marL="0">
              <a:buNone/>
            </a:pPr>
            <a:r>
              <a:rPr lang="en-US" sz="1400" b="1" dirty="0">
                <a:solidFill>
                  <a:schemeClr val="tx1"/>
                </a:solidFill>
              </a:rPr>
              <a:t>Interconnect</a:t>
            </a:r>
            <a:endParaRPr lang="en-US" sz="1400" dirty="0"/>
          </a:p>
        </p:txBody>
      </p:sp>
      <p:sp>
        <p:nvSpPr>
          <p:cNvPr id="9" name="Shape 7"/>
          <p:cNvSpPr/>
          <p:nvPr/>
        </p:nvSpPr>
        <p:spPr>
          <a:xfrm>
            <a:off x="2560320" y="1609344"/>
            <a:ext cx="3008376" cy="475488"/>
          </a:xfrm>
          <a:prstGeom prst="roundRect">
            <a:avLst>
              <a:gd name="adj" fmla="val 15385"/>
            </a:avLst>
          </a:prstGeom>
          <a:solidFill>
            <a:schemeClr val="accent5"/>
          </a:solidFill>
          <a:ln/>
        </p:spPr>
      </p:sp>
      <p:sp>
        <p:nvSpPr>
          <p:cNvPr id="10" name="Text 8"/>
          <p:cNvSpPr txBox="1"/>
          <p:nvPr/>
        </p:nvSpPr>
        <p:spPr>
          <a:xfrm>
            <a:off x="2560320" y="1609344"/>
            <a:ext cx="3008376" cy="475488"/>
          </a:xfrm>
          <a:prstGeom prst="rect">
            <a:avLst/>
          </a:prstGeom>
          <a:noFill/>
          <a:ln/>
        </p:spPr>
        <p:txBody>
          <a:bodyPr wrap="square" lIns="0" tIns="0" rIns="0" bIns="0" rtlCol="0" anchor="ctr"/>
          <a:lstStyle/>
          <a:p>
            <a:pPr algn="ctr" indent="0" marL="0">
              <a:buNone/>
            </a:pPr>
            <a:r>
              <a:rPr lang="en-US" sz="1400" b="1" dirty="0">
                <a:solidFill>
                  <a:schemeClr val="tx1"/>
                </a:solidFill>
              </a:rPr>
              <a:t>Wire-load</a:t>
            </a:r>
            <a:endParaRPr lang="en-US" sz="1400" dirty="0"/>
          </a:p>
        </p:txBody>
      </p:sp>
      <p:sp>
        <p:nvSpPr>
          <p:cNvPr id="11" name="Shape 9"/>
          <p:cNvSpPr/>
          <p:nvPr/>
        </p:nvSpPr>
        <p:spPr>
          <a:xfrm>
            <a:off x="5678424" y="1609344"/>
            <a:ext cx="3008376" cy="475488"/>
          </a:xfrm>
          <a:prstGeom prst="roundRect">
            <a:avLst>
              <a:gd name="adj" fmla="val 15385"/>
            </a:avLst>
          </a:prstGeom>
          <a:solidFill>
            <a:schemeClr val="accent1"/>
          </a:solidFill>
          <a:ln/>
        </p:spPr>
      </p:sp>
      <p:sp>
        <p:nvSpPr>
          <p:cNvPr id="12" name="Text 10"/>
          <p:cNvSpPr txBox="1"/>
          <p:nvPr/>
        </p:nvSpPr>
        <p:spPr>
          <a:xfrm>
            <a:off x="5678424" y="1609344"/>
            <a:ext cx="3008376" cy="475488"/>
          </a:xfrm>
          <a:prstGeom prst="rect">
            <a:avLst/>
          </a:prstGeom>
          <a:noFill/>
          <a:ln/>
        </p:spPr>
        <p:txBody>
          <a:bodyPr wrap="square" lIns="0" tIns="0" rIns="0" bIns="0" rtlCol="0" anchor="ctr"/>
          <a:lstStyle/>
          <a:p>
            <a:pPr algn="ctr" indent="0" marL="0">
              <a:buNone/>
            </a:pPr>
            <a:r>
              <a:rPr lang="en-US" sz="1400" b="1" dirty="0">
                <a:solidFill>
                  <a:schemeClr val="bg1"/>
                </a:solidFill>
              </a:rPr>
              <a:t>Extracted SPEF</a:t>
            </a:r>
            <a:endParaRPr lang="en-US" sz="1400" dirty="0"/>
          </a:p>
        </p:txBody>
      </p:sp>
      <p:sp>
        <p:nvSpPr>
          <p:cNvPr id="13" name="Text 11"/>
          <p:cNvSpPr txBox="1"/>
          <p:nvPr/>
        </p:nvSpPr>
        <p:spPr>
          <a:xfrm>
            <a:off x="457200" y="2212848"/>
            <a:ext cx="2103120" cy="475488"/>
          </a:xfrm>
          <a:prstGeom prst="rect">
            <a:avLst/>
          </a:prstGeom>
          <a:noFill/>
          <a:ln/>
        </p:spPr>
        <p:txBody>
          <a:bodyPr wrap="square" lIns="0" tIns="0" rIns="0" bIns="0" rtlCol="0" anchor="ctr"/>
          <a:lstStyle/>
          <a:p>
            <a:pPr indent="0" marL="0">
              <a:buNone/>
            </a:pPr>
            <a:r>
              <a:rPr lang="en-US" sz="1400" b="1" dirty="0">
                <a:solidFill>
                  <a:schemeClr val="tx1"/>
                </a:solidFill>
              </a:rPr>
              <a:t>Variation</a:t>
            </a:r>
            <a:endParaRPr lang="en-US" sz="1400" dirty="0"/>
          </a:p>
        </p:txBody>
      </p:sp>
      <p:sp>
        <p:nvSpPr>
          <p:cNvPr id="14" name="Shape 12"/>
          <p:cNvSpPr/>
          <p:nvPr/>
        </p:nvSpPr>
        <p:spPr>
          <a:xfrm>
            <a:off x="2560320" y="2212848"/>
            <a:ext cx="1449324" cy="475488"/>
          </a:xfrm>
          <a:prstGeom prst="roundRect">
            <a:avLst>
              <a:gd name="adj" fmla="val 15385"/>
            </a:avLst>
          </a:prstGeom>
          <a:solidFill>
            <a:schemeClr val="accent5"/>
          </a:solidFill>
          <a:ln/>
        </p:spPr>
      </p:sp>
      <p:sp>
        <p:nvSpPr>
          <p:cNvPr id="15" name="Text 13"/>
          <p:cNvSpPr txBox="1"/>
          <p:nvPr/>
        </p:nvSpPr>
        <p:spPr>
          <a:xfrm>
            <a:off x="2560320" y="2212848"/>
            <a:ext cx="1449324" cy="475488"/>
          </a:xfrm>
          <a:prstGeom prst="rect">
            <a:avLst/>
          </a:prstGeom>
          <a:noFill/>
          <a:ln/>
        </p:spPr>
        <p:txBody>
          <a:bodyPr wrap="square" lIns="0" tIns="0" rIns="0" bIns="0" rtlCol="0" anchor="ctr"/>
          <a:lstStyle/>
          <a:p>
            <a:pPr algn="ctr" indent="0" marL="0">
              <a:buNone/>
            </a:pPr>
            <a:r>
              <a:rPr lang="en-US" sz="1400" b="1" dirty="0">
                <a:solidFill>
                  <a:schemeClr val="tx1"/>
                </a:solidFill>
              </a:rPr>
              <a:t>Flat OCV</a:t>
            </a:r>
            <a:endParaRPr lang="en-US" sz="1400" dirty="0"/>
          </a:p>
        </p:txBody>
      </p:sp>
      <p:sp>
        <p:nvSpPr>
          <p:cNvPr id="16" name="Shape 14"/>
          <p:cNvSpPr/>
          <p:nvPr/>
        </p:nvSpPr>
        <p:spPr>
          <a:xfrm>
            <a:off x="4119372" y="2212848"/>
            <a:ext cx="1449324" cy="475488"/>
          </a:xfrm>
          <a:prstGeom prst="roundRect">
            <a:avLst>
              <a:gd name="adj" fmla="val 15385"/>
            </a:avLst>
          </a:prstGeom>
          <a:solidFill>
            <a:schemeClr val="accent4"/>
          </a:solidFill>
          <a:ln/>
        </p:spPr>
      </p:sp>
      <p:sp>
        <p:nvSpPr>
          <p:cNvPr id="17" name="Text 15"/>
          <p:cNvSpPr txBox="1"/>
          <p:nvPr/>
        </p:nvSpPr>
        <p:spPr>
          <a:xfrm>
            <a:off x="4119372" y="2212848"/>
            <a:ext cx="1449324" cy="475488"/>
          </a:xfrm>
          <a:prstGeom prst="rect">
            <a:avLst/>
          </a:prstGeom>
          <a:noFill/>
          <a:ln/>
        </p:spPr>
        <p:txBody>
          <a:bodyPr wrap="square" lIns="0" tIns="0" rIns="0" bIns="0" rtlCol="0" anchor="ctr"/>
          <a:lstStyle/>
          <a:p>
            <a:pPr algn="ctr" indent="0" marL="0">
              <a:buNone/>
            </a:pPr>
            <a:r>
              <a:rPr lang="en-US" sz="1400" b="1" dirty="0">
                <a:solidFill>
                  <a:schemeClr val="tx1"/>
                </a:solidFill>
              </a:rPr>
              <a:t>AOCV</a:t>
            </a:r>
            <a:endParaRPr lang="en-US" sz="1400" dirty="0"/>
          </a:p>
        </p:txBody>
      </p:sp>
      <p:sp>
        <p:nvSpPr>
          <p:cNvPr id="18" name="Shape 16"/>
          <p:cNvSpPr/>
          <p:nvPr/>
        </p:nvSpPr>
        <p:spPr>
          <a:xfrm>
            <a:off x="5678424" y="2212848"/>
            <a:ext cx="1449324" cy="475488"/>
          </a:xfrm>
          <a:prstGeom prst="roundRect">
            <a:avLst>
              <a:gd name="adj" fmla="val 15385"/>
            </a:avLst>
          </a:prstGeom>
          <a:solidFill>
            <a:schemeClr val="accent4"/>
          </a:solidFill>
          <a:ln/>
        </p:spPr>
      </p:sp>
      <p:sp>
        <p:nvSpPr>
          <p:cNvPr id="19" name="Text 17"/>
          <p:cNvSpPr txBox="1"/>
          <p:nvPr/>
        </p:nvSpPr>
        <p:spPr>
          <a:xfrm>
            <a:off x="5678424" y="2212848"/>
            <a:ext cx="1449324" cy="475488"/>
          </a:xfrm>
          <a:prstGeom prst="rect">
            <a:avLst/>
          </a:prstGeom>
          <a:noFill/>
          <a:ln/>
        </p:spPr>
        <p:txBody>
          <a:bodyPr wrap="square" lIns="0" tIns="0" rIns="0" bIns="0" rtlCol="0" anchor="ctr"/>
          <a:lstStyle/>
          <a:p>
            <a:pPr algn="ctr" indent="0" marL="0">
              <a:buNone/>
            </a:pPr>
            <a:r>
              <a:rPr lang="en-US" sz="1400" b="1" dirty="0">
                <a:solidFill>
                  <a:schemeClr val="tx1"/>
                </a:solidFill>
              </a:rPr>
              <a:t>POCV/SOCV</a:t>
            </a:r>
            <a:endParaRPr lang="en-US" sz="1400" dirty="0"/>
          </a:p>
        </p:txBody>
      </p:sp>
      <p:sp>
        <p:nvSpPr>
          <p:cNvPr id="20" name="Shape 18"/>
          <p:cNvSpPr/>
          <p:nvPr/>
        </p:nvSpPr>
        <p:spPr>
          <a:xfrm>
            <a:off x="7237476" y="2212848"/>
            <a:ext cx="1449324" cy="475488"/>
          </a:xfrm>
          <a:prstGeom prst="roundRect">
            <a:avLst>
              <a:gd name="adj" fmla="val 15385"/>
            </a:avLst>
          </a:prstGeom>
          <a:solidFill>
            <a:schemeClr val="accent1"/>
          </a:solidFill>
          <a:ln/>
        </p:spPr>
      </p:sp>
      <p:sp>
        <p:nvSpPr>
          <p:cNvPr id="21" name="Text 19"/>
          <p:cNvSpPr txBox="1"/>
          <p:nvPr/>
        </p:nvSpPr>
        <p:spPr>
          <a:xfrm>
            <a:off x="7237476" y="2212848"/>
            <a:ext cx="1449324" cy="475488"/>
          </a:xfrm>
          <a:prstGeom prst="rect">
            <a:avLst/>
          </a:prstGeom>
          <a:noFill/>
          <a:ln/>
        </p:spPr>
        <p:txBody>
          <a:bodyPr wrap="square" lIns="0" tIns="0" rIns="0" bIns="0" rtlCol="0" anchor="ctr"/>
          <a:lstStyle/>
          <a:p>
            <a:pPr algn="ctr" indent="0" marL="0">
              <a:buNone/>
            </a:pPr>
            <a:r>
              <a:rPr lang="en-US" sz="1400" b="1" dirty="0">
                <a:solidFill>
                  <a:schemeClr val="bg1"/>
                </a:solidFill>
              </a:rPr>
              <a:t>LVF</a:t>
            </a:r>
            <a:endParaRPr lang="en-US" sz="1400" dirty="0"/>
          </a:p>
        </p:txBody>
      </p:sp>
      <p:sp>
        <p:nvSpPr>
          <p:cNvPr id="22" name="Text 20"/>
          <p:cNvSpPr txBox="1"/>
          <p:nvPr/>
        </p:nvSpPr>
        <p:spPr>
          <a:xfrm>
            <a:off x="457200" y="2816352"/>
            <a:ext cx="2103120" cy="475488"/>
          </a:xfrm>
          <a:prstGeom prst="rect">
            <a:avLst/>
          </a:prstGeom>
          <a:noFill/>
          <a:ln/>
        </p:spPr>
        <p:txBody>
          <a:bodyPr wrap="square" lIns="0" tIns="0" rIns="0" bIns="0" rtlCol="0" anchor="ctr"/>
          <a:lstStyle/>
          <a:p>
            <a:pPr indent="0" marL="0">
              <a:buNone/>
            </a:pPr>
            <a:r>
              <a:rPr lang="en-US" sz="1400" b="1" dirty="0">
                <a:solidFill>
                  <a:schemeClr val="tx1"/>
                </a:solidFill>
              </a:rPr>
              <a:t>Noise / SI</a:t>
            </a:r>
            <a:endParaRPr lang="en-US" sz="1400" dirty="0"/>
          </a:p>
        </p:txBody>
      </p:sp>
      <p:sp>
        <p:nvSpPr>
          <p:cNvPr id="23" name="Shape 21"/>
          <p:cNvSpPr/>
          <p:nvPr/>
        </p:nvSpPr>
        <p:spPr>
          <a:xfrm>
            <a:off x="2560320" y="2816352"/>
            <a:ext cx="3008376" cy="475488"/>
          </a:xfrm>
          <a:prstGeom prst="roundRect">
            <a:avLst>
              <a:gd name="adj" fmla="val 15385"/>
            </a:avLst>
          </a:prstGeom>
          <a:solidFill>
            <a:schemeClr val="accent5"/>
          </a:solidFill>
          <a:ln/>
        </p:spPr>
      </p:sp>
      <p:sp>
        <p:nvSpPr>
          <p:cNvPr id="24" name="Text 22"/>
          <p:cNvSpPr txBox="1"/>
          <p:nvPr/>
        </p:nvSpPr>
        <p:spPr>
          <a:xfrm>
            <a:off x="2560320" y="2816352"/>
            <a:ext cx="3008376" cy="475488"/>
          </a:xfrm>
          <a:prstGeom prst="rect">
            <a:avLst/>
          </a:prstGeom>
          <a:noFill/>
          <a:ln/>
        </p:spPr>
        <p:txBody>
          <a:bodyPr wrap="square" lIns="0" tIns="0" rIns="0" bIns="0" rtlCol="0" anchor="ctr"/>
          <a:lstStyle/>
          <a:p>
            <a:pPr algn="ctr" indent="0" marL="0">
              <a:buNone/>
            </a:pPr>
            <a:r>
              <a:rPr lang="en-US" sz="1400" b="1" dirty="0">
                <a:solidFill>
                  <a:schemeClr val="tx1"/>
                </a:solidFill>
              </a:rPr>
              <a:t>Crosstalk windows</a:t>
            </a:r>
            <a:endParaRPr lang="en-US" sz="1400" dirty="0"/>
          </a:p>
        </p:txBody>
      </p:sp>
      <p:sp>
        <p:nvSpPr>
          <p:cNvPr id="25" name="Shape 23"/>
          <p:cNvSpPr/>
          <p:nvPr/>
        </p:nvSpPr>
        <p:spPr>
          <a:xfrm>
            <a:off x="5678424" y="2816352"/>
            <a:ext cx="3008376" cy="475488"/>
          </a:xfrm>
          <a:prstGeom prst="roundRect">
            <a:avLst>
              <a:gd name="adj" fmla="val 15385"/>
            </a:avLst>
          </a:prstGeom>
          <a:solidFill>
            <a:schemeClr val="accent1"/>
          </a:solidFill>
          <a:ln/>
        </p:spPr>
      </p:sp>
      <p:sp>
        <p:nvSpPr>
          <p:cNvPr id="26" name="Text 24"/>
          <p:cNvSpPr txBox="1"/>
          <p:nvPr/>
        </p:nvSpPr>
        <p:spPr>
          <a:xfrm>
            <a:off x="5678424" y="2816352"/>
            <a:ext cx="3008376" cy="475488"/>
          </a:xfrm>
          <a:prstGeom prst="rect">
            <a:avLst/>
          </a:prstGeom>
          <a:noFill/>
          <a:ln/>
        </p:spPr>
        <p:txBody>
          <a:bodyPr wrap="square" lIns="0" tIns="0" rIns="0" bIns="0" rtlCol="0" anchor="ctr"/>
          <a:lstStyle/>
          <a:p>
            <a:pPr algn="ctr" indent="0" marL="0">
              <a:buNone/>
            </a:pPr>
            <a:r>
              <a:rPr lang="en-US" sz="1400" b="1" dirty="0">
                <a:solidFill>
                  <a:schemeClr val="bg1"/>
                </a:solidFill>
              </a:rPr>
              <a:t>CCS noise</a:t>
            </a:r>
            <a:endParaRPr lang="en-US" sz="1400" dirty="0"/>
          </a:p>
        </p:txBody>
      </p:sp>
      <p:sp>
        <p:nvSpPr>
          <p:cNvPr id="27" name="Text 25"/>
          <p:cNvSpPr txBox="1"/>
          <p:nvPr/>
        </p:nvSpPr>
        <p:spPr>
          <a:xfrm>
            <a:off x="457200" y="3419856"/>
            <a:ext cx="2103120" cy="475488"/>
          </a:xfrm>
          <a:prstGeom prst="rect">
            <a:avLst/>
          </a:prstGeom>
          <a:noFill/>
          <a:ln/>
        </p:spPr>
        <p:txBody>
          <a:bodyPr wrap="square" lIns="0" tIns="0" rIns="0" bIns="0" rtlCol="0" anchor="ctr"/>
          <a:lstStyle/>
          <a:p>
            <a:pPr indent="0" marL="0">
              <a:buNone/>
            </a:pPr>
            <a:r>
              <a:rPr lang="en-US" sz="1400" b="1" dirty="0">
                <a:solidFill>
                  <a:schemeClr val="tx1"/>
                </a:solidFill>
              </a:rPr>
              <a:t>Abstraction</a:t>
            </a:r>
            <a:endParaRPr lang="en-US" sz="1400" dirty="0"/>
          </a:p>
        </p:txBody>
      </p:sp>
      <p:sp>
        <p:nvSpPr>
          <p:cNvPr id="28" name="Shape 26"/>
          <p:cNvSpPr/>
          <p:nvPr/>
        </p:nvSpPr>
        <p:spPr>
          <a:xfrm>
            <a:off x="2560320" y="3419856"/>
            <a:ext cx="1969008" cy="475488"/>
          </a:xfrm>
          <a:prstGeom prst="roundRect">
            <a:avLst>
              <a:gd name="adj" fmla="val 15385"/>
            </a:avLst>
          </a:prstGeom>
          <a:solidFill>
            <a:schemeClr val="accent5"/>
          </a:solidFill>
          <a:ln/>
        </p:spPr>
      </p:sp>
      <p:sp>
        <p:nvSpPr>
          <p:cNvPr id="29" name="Text 27"/>
          <p:cNvSpPr txBox="1"/>
          <p:nvPr/>
        </p:nvSpPr>
        <p:spPr>
          <a:xfrm>
            <a:off x="2560320" y="3419856"/>
            <a:ext cx="1969008" cy="475488"/>
          </a:xfrm>
          <a:prstGeom prst="rect">
            <a:avLst/>
          </a:prstGeom>
          <a:noFill/>
          <a:ln/>
        </p:spPr>
        <p:txBody>
          <a:bodyPr wrap="square" lIns="0" tIns="0" rIns="0" bIns="0" rtlCol="0" anchor="ctr"/>
          <a:lstStyle/>
          <a:p>
            <a:pPr algn="ctr" indent="0" marL="0">
              <a:buNone/>
            </a:pPr>
            <a:r>
              <a:rPr lang="en-US" sz="1400" b="1" dirty="0">
                <a:solidFill>
                  <a:schemeClr val="tx1"/>
                </a:solidFill>
              </a:rPr>
              <a:t>ETM</a:t>
            </a:r>
            <a:endParaRPr lang="en-US" sz="1400" dirty="0"/>
          </a:p>
        </p:txBody>
      </p:sp>
      <p:sp>
        <p:nvSpPr>
          <p:cNvPr id="30" name="Shape 28"/>
          <p:cNvSpPr/>
          <p:nvPr/>
        </p:nvSpPr>
        <p:spPr>
          <a:xfrm>
            <a:off x="4639056" y="3419856"/>
            <a:ext cx="1969008" cy="475488"/>
          </a:xfrm>
          <a:prstGeom prst="roundRect">
            <a:avLst>
              <a:gd name="adj" fmla="val 15385"/>
            </a:avLst>
          </a:prstGeom>
          <a:solidFill>
            <a:schemeClr val="accent4"/>
          </a:solidFill>
          <a:ln/>
        </p:spPr>
      </p:sp>
      <p:sp>
        <p:nvSpPr>
          <p:cNvPr id="31" name="Text 29"/>
          <p:cNvSpPr txBox="1"/>
          <p:nvPr/>
        </p:nvSpPr>
        <p:spPr>
          <a:xfrm>
            <a:off x="4639056" y="3419856"/>
            <a:ext cx="1969008" cy="475488"/>
          </a:xfrm>
          <a:prstGeom prst="rect">
            <a:avLst/>
          </a:prstGeom>
          <a:noFill/>
          <a:ln/>
        </p:spPr>
        <p:txBody>
          <a:bodyPr wrap="square" lIns="0" tIns="0" rIns="0" bIns="0" rtlCol="0" anchor="ctr"/>
          <a:lstStyle/>
          <a:p>
            <a:pPr algn="ctr" indent="0" marL="0">
              <a:buNone/>
            </a:pPr>
            <a:r>
              <a:rPr lang="en-US" sz="1400" b="1" dirty="0">
                <a:solidFill>
                  <a:schemeClr val="tx1"/>
                </a:solidFill>
              </a:rPr>
              <a:t>ILM</a:t>
            </a:r>
            <a:endParaRPr lang="en-US" sz="1400" dirty="0"/>
          </a:p>
        </p:txBody>
      </p:sp>
      <p:sp>
        <p:nvSpPr>
          <p:cNvPr id="32" name="Shape 30"/>
          <p:cNvSpPr/>
          <p:nvPr/>
        </p:nvSpPr>
        <p:spPr>
          <a:xfrm>
            <a:off x="6717792" y="3419856"/>
            <a:ext cx="1969008" cy="475488"/>
          </a:xfrm>
          <a:prstGeom prst="roundRect">
            <a:avLst>
              <a:gd name="adj" fmla="val 15385"/>
            </a:avLst>
          </a:prstGeom>
          <a:solidFill>
            <a:schemeClr val="accent1"/>
          </a:solidFill>
          <a:ln/>
        </p:spPr>
      </p:sp>
      <p:sp>
        <p:nvSpPr>
          <p:cNvPr id="33" name="Text 31"/>
          <p:cNvSpPr txBox="1"/>
          <p:nvPr/>
        </p:nvSpPr>
        <p:spPr>
          <a:xfrm>
            <a:off x="6717792" y="3419856"/>
            <a:ext cx="1969008" cy="475488"/>
          </a:xfrm>
          <a:prstGeom prst="rect">
            <a:avLst/>
          </a:prstGeom>
          <a:noFill/>
          <a:ln/>
        </p:spPr>
        <p:txBody>
          <a:bodyPr wrap="square" lIns="0" tIns="0" rIns="0" bIns="0" rtlCol="0" anchor="ctr"/>
          <a:lstStyle/>
          <a:p>
            <a:pPr algn="ctr" indent="0" marL="0">
              <a:buNone/>
            </a:pPr>
            <a:r>
              <a:rPr lang="en-US" sz="1400" b="1" dirty="0">
                <a:solidFill>
                  <a:schemeClr val="bg1"/>
                </a:solidFill>
              </a:rPr>
              <a:t>SmartScope</a:t>
            </a:r>
            <a:endParaRPr lang="en-US" sz="1400" dirty="0"/>
          </a:p>
        </p:txBody>
      </p:sp>
      <p:sp>
        <p:nvSpPr>
          <p:cNvPr id="34" name="Text 32"/>
          <p:cNvSpPr txBox="1"/>
          <p:nvPr/>
        </p:nvSpPr>
        <p:spPr>
          <a:xfrm>
            <a:off x="457200" y="4023360"/>
            <a:ext cx="2103120" cy="475488"/>
          </a:xfrm>
          <a:prstGeom prst="rect">
            <a:avLst/>
          </a:prstGeom>
          <a:noFill/>
          <a:ln/>
        </p:spPr>
        <p:txBody>
          <a:bodyPr wrap="square" lIns="0" tIns="0" rIns="0" bIns="0" rtlCol="0" anchor="ctr"/>
          <a:lstStyle/>
          <a:p>
            <a:pPr indent="0" marL="0">
              <a:buNone/>
            </a:pPr>
            <a:r>
              <a:rPr lang="en-US" sz="1400" b="1" dirty="0">
                <a:solidFill>
                  <a:schemeClr val="tx1"/>
                </a:solidFill>
              </a:rPr>
              <a:t>Constraints &amp; annotation</a:t>
            </a:r>
            <a:endParaRPr lang="en-US" sz="1400" dirty="0"/>
          </a:p>
        </p:txBody>
      </p:sp>
      <p:sp>
        <p:nvSpPr>
          <p:cNvPr id="35" name="Shape 33"/>
          <p:cNvSpPr/>
          <p:nvPr/>
        </p:nvSpPr>
        <p:spPr>
          <a:xfrm>
            <a:off x="2560320" y="4023360"/>
            <a:ext cx="3008376" cy="475488"/>
          </a:xfrm>
          <a:prstGeom prst="roundRect">
            <a:avLst>
              <a:gd name="adj" fmla="val 15385"/>
            </a:avLst>
          </a:prstGeom>
          <a:solidFill>
            <a:schemeClr val="accent5"/>
          </a:solidFill>
          <a:ln/>
        </p:spPr>
      </p:sp>
      <p:sp>
        <p:nvSpPr>
          <p:cNvPr id="36" name="Text 34"/>
          <p:cNvSpPr txBox="1"/>
          <p:nvPr/>
        </p:nvSpPr>
        <p:spPr>
          <a:xfrm>
            <a:off x="2560320" y="4023360"/>
            <a:ext cx="3008376" cy="475488"/>
          </a:xfrm>
          <a:prstGeom prst="rect">
            <a:avLst/>
          </a:prstGeom>
          <a:noFill/>
          <a:ln/>
        </p:spPr>
        <p:txBody>
          <a:bodyPr wrap="square" lIns="0" tIns="0" rIns="0" bIns="0" rtlCol="0" anchor="ctr"/>
          <a:lstStyle/>
          <a:p>
            <a:pPr algn="ctr" indent="0" marL="0">
              <a:buNone/>
            </a:pPr>
            <a:r>
              <a:rPr lang="en-US" sz="1400" b="1" dirty="0">
                <a:solidFill>
                  <a:schemeClr val="tx1"/>
                </a:solidFill>
              </a:rPr>
              <a:t>SDC</a:t>
            </a:r>
            <a:endParaRPr lang="en-US" sz="1400" dirty="0"/>
          </a:p>
        </p:txBody>
      </p:sp>
      <p:sp>
        <p:nvSpPr>
          <p:cNvPr id="37" name="Shape 35"/>
          <p:cNvSpPr/>
          <p:nvPr/>
        </p:nvSpPr>
        <p:spPr>
          <a:xfrm>
            <a:off x="5678424" y="4023360"/>
            <a:ext cx="3008376" cy="475488"/>
          </a:xfrm>
          <a:prstGeom prst="roundRect">
            <a:avLst>
              <a:gd name="adj" fmla="val 15385"/>
            </a:avLst>
          </a:prstGeom>
          <a:solidFill>
            <a:schemeClr val="accent1"/>
          </a:solidFill>
          <a:ln/>
        </p:spPr>
      </p:sp>
      <p:sp>
        <p:nvSpPr>
          <p:cNvPr id="38" name="Text 36"/>
          <p:cNvSpPr txBox="1"/>
          <p:nvPr/>
        </p:nvSpPr>
        <p:spPr>
          <a:xfrm>
            <a:off x="5678424" y="4023360"/>
            <a:ext cx="3008376" cy="475488"/>
          </a:xfrm>
          <a:prstGeom prst="rect">
            <a:avLst/>
          </a:prstGeom>
          <a:noFill/>
          <a:ln/>
        </p:spPr>
        <p:txBody>
          <a:bodyPr wrap="square" lIns="0" tIns="0" rIns="0" bIns="0" rtlCol="0" anchor="ctr"/>
          <a:lstStyle/>
          <a:p>
            <a:pPr algn="ctr" indent="0" marL="0">
              <a:buNone/>
            </a:pPr>
            <a:r>
              <a:rPr lang="en-US" sz="1400" b="1" dirty="0">
                <a:solidFill>
                  <a:schemeClr val="bg1"/>
                </a:solidFill>
              </a:rPr>
              <a:t>SDF</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One core reading set for all three days</a:t>
            </a:r>
            <a:endParaRPr lang="en-US" sz="3200" dirty="0"/>
          </a:p>
        </p:txBody>
      </p:sp>
      <p:sp>
        <p:nvSpPr>
          <p:cNvPr id="3" name="Shape 1"/>
          <p:cNvSpPr/>
          <p:nvPr/>
        </p:nvSpPr>
        <p:spPr>
          <a:xfrm>
            <a:off x="457200" y="1051560"/>
            <a:ext cx="8229600" cy="1024128"/>
          </a:xfrm>
          <a:prstGeom prst="roundRect">
            <a:avLst>
              <a:gd name="adj" fmla="val 8929"/>
            </a:avLst>
          </a:prstGeom>
          <a:solidFill>
            <a:schemeClr val="bg2"/>
          </a:solidFill>
          <a:ln/>
        </p:spPr>
      </p:sp>
      <p:sp>
        <p:nvSpPr>
          <p:cNvPr id="4" name="Shape 2"/>
          <p:cNvSpPr/>
          <p:nvPr/>
        </p:nvSpPr>
        <p:spPr>
          <a:xfrm>
            <a:off x="658368" y="1307592"/>
            <a:ext cx="512064" cy="512064"/>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86384" y="1435608"/>
            <a:ext cx="256032" cy="256032"/>
          </a:xfrm>
          <a:prstGeom prst="rect">
            <a:avLst/>
          </a:prstGeom>
        </p:spPr>
      </p:pic>
      <p:sp>
        <p:nvSpPr>
          <p:cNvPr id="6" name="Text 3"/>
          <p:cNvSpPr txBox="1"/>
          <p:nvPr/>
        </p:nvSpPr>
        <p:spPr>
          <a:xfrm>
            <a:off x="1371600" y="1143000"/>
            <a:ext cx="7132320" cy="292608"/>
          </a:xfrm>
          <a:prstGeom prst="rect">
            <a:avLst/>
          </a:prstGeom>
          <a:noFill/>
          <a:ln/>
        </p:spPr>
        <p:txBody>
          <a:bodyPr wrap="square" lIns="0" tIns="0" rIns="0" bIns="0" rtlCol="0" anchor="ctr"/>
          <a:lstStyle/>
          <a:p>
            <a:pPr indent="0" marL="0">
              <a:buNone/>
            </a:pPr>
            <a:r>
              <a:rPr lang="en-US" sz="1600" b="1" dirty="0">
                <a:solidFill>
                  <a:schemeClr val="tx1"/>
                </a:solidFill>
              </a:rPr>
              <a:t>Bhasker &amp; Chadha</a:t>
            </a:r>
            <a:endParaRPr lang="en-US" sz="1600" dirty="0"/>
          </a:p>
        </p:txBody>
      </p:sp>
      <p:sp>
        <p:nvSpPr>
          <p:cNvPr id="7" name="Text 4"/>
          <p:cNvSpPr txBox="1"/>
          <p:nvPr/>
        </p:nvSpPr>
        <p:spPr>
          <a:xfrm>
            <a:off x="1371600" y="1435608"/>
            <a:ext cx="7132320" cy="256032"/>
          </a:xfrm>
          <a:prstGeom prst="rect">
            <a:avLst/>
          </a:prstGeom>
          <a:noFill/>
          <a:ln/>
        </p:spPr>
        <p:txBody>
          <a:bodyPr wrap="square" lIns="0" tIns="0" rIns="0" bIns="0" rtlCol="0" anchor="ctr"/>
          <a:lstStyle/>
          <a:p>
            <a:pPr indent="0" marL="0">
              <a:buNone/>
            </a:pPr>
            <a:r>
              <a:rPr lang="en-US" sz="1200" i="1" dirty="0">
                <a:solidFill>
                  <a:schemeClr val="accent3"/>
                </a:solidFill>
              </a:rPr>
              <a:t>Static Timing Analysis for Nanometer Designs (Springer, 2009)</a:t>
            </a:r>
            <a:endParaRPr lang="en-US" sz="1200" dirty="0"/>
          </a:p>
        </p:txBody>
      </p:sp>
      <p:sp>
        <p:nvSpPr>
          <p:cNvPr id="8" name="Text 5"/>
          <p:cNvSpPr txBox="1"/>
          <p:nvPr/>
        </p:nvSpPr>
        <p:spPr>
          <a:xfrm>
            <a:off x="1371600" y="1709928"/>
            <a:ext cx="7132320" cy="274320"/>
          </a:xfrm>
          <a:prstGeom prst="rect">
            <a:avLst/>
          </a:prstGeom>
          <a:noFill/>
          <a:ln/>
        </p:spPr>
        <p:txBody>
          <a:bodyPr wrap="square" lIns="0" tIns="0" rIns="0" bIns="0" rtlCol="0" anchor="ctr"/>
          <a:lstStyle/>
          <a:p>
            <a:pPr indent="0" marL="0">
              <a:buNone/>
            </a:pPr>
            <a:r>
              <a:rPr lang="en-US" sz="1300" dirty="0">
                <a:solidFill>
                  <a:schemeClr val="tx2"/>
                </a:solidFill>
              </a:rPr>
              <a:t>Day 1: Ch. 1–5, App. C · Day 2: Ch. 7–8, 10, App. A · Day 3: Ch. 3, 6–10</a:t>
            </a:r>
            <a:endParaRPr lang="en-US" sz="1300" dirty="0"/>
          </a:p>
        </p:txBody>
      </p:sp>
      <p:sp>
        <p:nvSpPr>
          <p:cNvPr id="9" name="Shape 6"/>
          <p:cNvSpPr/>
          <p:nvPr/>
        </p:nvSpPr>
        <p:spPr>
          <a:xfrm>
            <a:off x="457200" y="2240280"/>
            <a:ext cx="8229600" cy="1024128"/>
          </a:xfrm>
          <a:prstGeom prst="roundRect">
            <a:avLst>
              <a:gd name="adj" fmla="val 8929"/>
            </a:avLst>
          </a:prstGeom>
          <a:solidFill>
            <a:schemeClr val="bg2"/>
          </a:solidFill>
          <a:ln/>
        </p:spPr>
      </p:sp>
      <p:sp>
        <p:nvSpPr>
          <p:cNvPr id="10" name="Shape 7"/>
          <p:cNvSpPr/>
          <p:nvPr/>
        </p:nvSpPr>
        <p:spPr>
          <a:xfrm>
            <a:off x="658368" y="2496312"/>
            <a:ext cx="512064" cy="512064"/>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786384" y="2624328"/>
            <a:ext cx="256032" cy="256032"/>
          </a:xfrm>
          <a:prstGeom prst="rect">
            <a:avLst/>
          </a:prstGeom>
        </p:spPr>
      </p:pic>
      <p:sp>
        <p:nvSpPr>
          <p:cNvPr id="12" name="Text 8"/>
          <p:cNvSpPr txBox="1"/>
          <p:nvPr/>
        </p:nvSpPr>
        <p:spPr>
          <a:xfrm>
            <a:off x="1371600" y="2331720"/>
            <a:ext cx="7132320" cy="292608"/>
          </a:xfrm>
          <a:prstGeom prst="rect">
            <a:avLst/>
          </a:prstGeom>
          <a:noFill/>
          <a:ln/>
        </p:spPr>
        <p:txBody>
          <a:bodyPr wrap="square" lIns="0" tIns="0" rIns="0" bIns="0" rtlCol="0" anchor="ctr"/>
          <a:lstStyle/>
          <a:p>
            <a:pPr indent="0" marL="0">
              <a:buNone/>
            </a:pPr>
            <a:r>
              <a:rPr lang="en-US" sz="1600" b="1" dirty="0">
                <a:solidFill>
                  <a:schemeClr val="tx1"/>
                </a:solidFill>
              </a:rPr>
              <a:t>Liberty User Guide</a:t>
            </a:r>
            <a:endParaRPr lang="en-US" sz="1600" dirty="0"/>
          </a:p>
        </p:txBody>
      </p:sp>
      <p:sp>
        <p:nvSpPr>
          <p:cNvPr id="13" name="Text 9"/>
          <p:cNvSpPr txBox="1"/>
          <p:nvPr/>
        </p:nvSpPr>
        <p:spPr>
          <a:xfrm>
            <a:off x="1371600" y="2624328"/>
            <a:ext cx="7132320" cy="256032"/>
          </a:xfrm>
          <a:prstGeom prst="rect">
            <a:avLst/>
          </a:prstGeom>
          <a:noFill/>
          <a:ln/>
        </p:spPr>
        <p:txBody>
          <a:bodyPr wrap="square" lIns="0" tIns="0" rIns="0" bIns="0" rtlCol="0" anchor="ctr"/>
          <a:lstStyle/>
          <a:p>
            <a:pPr indent="0" marL="0">
              <a:buNone/>
            </a:pPr>
            <a:r>
              <a:rPr lang="en-US" sz="1200" i="1" dirty="0">
                <a:solidFill>
                  <a:schemeClr val="accent3"/>
                </a:solidFill>
              </a:rPr>
              <a:t>Liberty User Guides and Reference Manual (2017.06)</a:t>
            </a:r>
            <a:endParaRPr lang="en-US" sz="1200" dirty="0"/>
          </a:p>
        </p:txBody>
      </p:sp>
      <p:sp>
        <p:nvSpPr>
          <p:cNvPr id="14" name="Text 10"/>
          <p:cNvSpPr txBox="1"/>
          <p:nvPr/>
        </p:nvSpPr>
        <p:spPr>
          <a:xfrm>
            <a:off x="1371600" y="2898648"/>
            <a:ext cx="7132320" cy="274320"/>
          </a:xfrm>
          <a:prstGeom prst="rect">
            <a:avLst/>
          </a:prstGeom>
          <a:noFill/>
          <a:ln/>
        </p:spPr>
        <p:txBody>
          <a:bodyPr wrap="square" lIns="0" tIns="0" rIns="0" bIns="0" rtlCol="0" anchor="ctr"/>
          <a:lstStyle/>
          <a:p>
            <a:pPr indent="0" marL="0">
              <a:buNone/>
            </a:pPr>
            <a:r>
              <a:rPr lang="en-US" sz="1300" dirty="0">
                <a:solidFill>
                  <a:schemeClr val="tx2"/>
                </a:solidFill>
              </a:rPr>
              <a:t>Day 1: NLDM, CCS cell models · Day 3: LVF and moments</a:t>
            </a:r>
            <a:endParaRPr lang="en-US" sz="1300" dirty="0"/>
          </a:p>
        </p:txBody>
      </p:sp>
      <p:sp>
        <p:nvSpPr>
          <p:cNvPr id="15" name="Shape 11"/>
          <p:cNvSpPr/>
          <p:nvPr/>
        </p:nvSpPr>
        <p:spPr>
          <a:xfrm>
            <a:off x="457200" y="3429000"/>
            <a:ext cx="8229600" cy="1024128"/>
          </a:xfrm>
          <a:prstGeom prst="roundRect">
            <a:avLst>
              <a:gd name="adj" fmla="val 8929"/>
            </a:avLst>
          </a:prstGeom>
          <a:solidFill>
            <a:schemeClr val="bg2"/>
          </a:solidFill>
          <a:ln/>
        </p:spPr>
      </p:sp>
      <p:sp>
        <p:nvSpPr>
          <p:cNvPr id="16" name="Shape 12"/>
          <p:cNvSpPr/>
          <p:nvPr/>
        </p:nvSpPr>
        <p:spPr>
          <a:xfrm>
            <a:off x="658368" y="3685032"/>
            <a:ext cx="512064" cy="512064"/>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786384" y="3813048"/>
            <a:ext cx="256032" cy="256032"/>
          </a:xfrm>
          <a:prstGeom prst="rect">
            <a:avLst/>
          </a:prstGeom>
        </p:spPr>
      </p:pic>
      <p:sp>
        <p:nvSpPr>
          <p:cNvPr id="18" name="Text 13"/>
          <p:cNvSpPr txBox="1"/>
          <p:nvPr/>
        </p:nvSpPr>
        <p:spPr>
          <a:xfrm>
            <a:off x="1371600" y="3520440"/>
            <a:ext cx="7132320" cy="292608"/>
          </a:xfrm>
          <a:prstGeom prst="rect">
            <a:avLst/>
          </a:prstGeom>
          <a:noFill/>
          <a:ln/>
        </p:spPr>
        <p:txBody>
          <a:bodyPr wrap="square" lIns="0" tIns="0" rIns="0" bIns="0" rtlCol="0" anchor="ctr"/>
          <a:lstStyle/>
          <a:p>
            <a:pPr indent="0" marL="0">
              <a:buNone/>
            </a:pPr>
            <a:r>
              <a:rPr lang="en-US" sz="1600" b="1" dirty="0">
                <a:solidFill>
                  <a:schemeClr val="tx1"/>
                </a:solidFill>
              </a:rPr>
              <a:t>Your tool's documentation</a:t>
            </a:r>
            <a:endParaRPr lang="en-US" sz="1600" dirty="0"/>
          </a:p>
        </p:txBody>
      </p:sp>
      <p:sp>
        <p:nvSpPr>
          <p:cNvPr id="19" name="Text 14"/>
          <p:cNvSpPr txBox="1"/>
          <p:nvPr/>
        </p:nvSpPr>
        <p:spPr>
          <a:xfrm>
            <a:off x="1371600" y="3813048"/>
            <a:ext cx="7132320" cy="256032"/>
          </a:xfrm>
          <a:prstGeom prst="rect">
            <a:avLst/>
          </a:prstGeom>
          <a:noFill/>
          <a:ln/>
        </p:spPr>
        <p:txBody>
          <a:bodyPr wrap="square" lIns="0" tIns="0" rIns="0" bIns="0" rtlCol="0" anchor="ctr"/>
          <a:lstStyle/>
          <a:p>
            <a:pPr indent="0" marL="0">
              <a:buNone/>
            </a:pPr>
            <a:r>
              <a:rPr lang="en-US" sz="1200" i="1" dirty="0">
                <a:solidFill>
                  <a:schemeClr val="accent3"/>
                </a:solidFill>
              </a:rPr>
              <a:t>PrimeTime or Tempus datasheets &amp; user guide; OpenSTA README</a:t>
            </a:r>
            <a:endParaRPr lang="en-US" sz="1200" dirty="0"/>
          </a:p>
        </p:txBody>
      </p:sp>
      <p:sp>
        <p:nvSpPr>
          <p:cNvPr id="20" name="Text 15"/>
          <p:cNvSpPr txBox="1"/>
          <p:nvPr/>
        </p:nvSpPr>
        <p:spPr>
          <a:xfrm>
            <a:off x="1371600" y="4087368"/>
            <a:ext cx="7132320" cy="274320"/>
          </a:xfrm>
          <a:prstGeom prst="rect">
            <a:avLst/>
          </a:prstGeom>
          <a:noFill/>
          <a:ln/>
        </p:spPr>
        <p:txBody>
          <a:bodyPr wrap="square" lIns="0" tIns="0" rIns="0" bIns="0" rtlCol="0" anchor="ctr"/>
          <a:lstStyle/>
          <a:p>
            <a:pPr indent="0" marL="0">
              <a:buNone/>
            </a:pPr>
            <a:r>
              <a:rPr lang="en-US" sz="1300" dirty="0">
                <a:solidFill>
                  <a:schemeClr val="tx2"/>
                </a:solidFill>
              </a:rPr>
              <a:t>Day 2: report_timing, PBA, MMMC · Day 3: hierarchical models, ECO</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Caveats &amp; sources</a:t>
            </a:r>
            <a:endParaRPr lang="en-US" sz="3200" dirty="0"/>
          </a:p>
        </p:txBody>
      </p:sp>
      <p:sp>
        <p:nvSpPr>
          <p:cNvPr id="3" name="Shape 1"/>
          <p:cNvSpPr/>
          <p:nvPr/>
        </p:nvSpPr>
        <p:spPr>
          <a:xfrm>
            <a:off x="457200" y="1097280"/>
            <a:ext cx="457200" cy="457200"/>
          </a:xfrm>
          <a:prstGeom prst="ellipse">
            <a:avLst/>
          </a:prstGeom>
          <a:solidFill>
            <a:schemeClr val="accent6"/>
          </a:solidFill>
          <a:ln/>
        </p:spPr>
      </p:sp>
      <p:pic>
        <p:nvPicPr>
          <p:cNvPr id="4" name="Image 0" descr="preencoded.png">    </p:cNvPr>
          <p:cNvPicPr>
            <a:picLocks noChangeAspect="1"/>
          </p:cNvPicPr>
          <p:nvPr/>
        </p:nvPicPr>
        <p:blipFill>
          <a:blip r:embed="rId1"/>
          <a:stretch>
            <a:fillRect/>
          </a:stretch>
        </p:blipFill>
        <p:spPr>
          <a:xfrm>
            <a:off x="566928" y="1207008"/>
            <a:ext cx="237744" cy="237744"/>
          </a:xfrm>
          <a:prstGeom prst="rect">
            <a:avLst/>
          </a:prstGeom>
        </p:spPr>
      </p:pic>
      <p:sp>
        <p:nvSpPr>
          <p:cNvPr id="5" name="Text 2"/>
          <p:cNvSpPr txBox="1"/>
          <p:nvPr/>
        </p:nvSpPr>
        <p:spPr>
          <a:xfrm>
            <a:off x="1097280" y="1051560"/>
            <a:ext cx="75895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Videos are mapped by title only; their content was not transcribed.</a:t>
            </a:r>
            <a:endParaRPr lang="en-US" sz="1400" dirty="0"/>
          </a:p>
          <a:p>
            <a:pPr marL="342900" indent="-342900">
              <a:spcAft>
                <a:spcPts val="600"/>
              </a:spcAft>
              <a:buSzPct val="100000"/>
              <a:buChar char="•"/>
            </a:pPr>
            <a:r>
              <a:rPr lang="en-US" sz="1400" dirty="0">
                <a:solidFill>
                  <a:schemeClr val="tx2"/>
                </a:solidFill>
              </a:rPr>
              <a:t>Playlist weeks 3, 4 and 9 had no supplied video; those topics come from the research plan.</a:t>
            </a:r>
            <a:endParaRPr lang="en-US" sz="1400" dirty="0"/>
          </a:p>
          <a:p>
            <a:pPr marL="342900" indent="-342900">
              <a:spcAft>
                <a:spcPts val="600"/>
              </a:spcAft>
              <a:buSzPct val="100000"/>
              <a:buChar char="•"/>
            </a:pPr>
            <a:r>
              <a:rPr lang="en-US" sz="1400" dirty="0">
                <a:solidFill>
                  <a:schemeClr val="tx2"/>
                </a:solidFill>
              </a:rPr>
              <a:t>Members-only videos need a channel membership.</a:t>
            </a:r>
            <a:endParaRPr lang="en-US" sz="1400" dirty="0"/>
          </a:p>
          <a:p>
            <a:pPr marL="342900" indent="-342900">
              <a:spcAft>
                <a:spcPts val="600"/>
              </a:spcAft>
              <a:buSzPct val="100000"/>
              <a:buChar char="•"/>
            </a:pPr>
            <a:r>
              <a:rPr lang="en-US" sz="1400" dirty="0">
                <a:solidFill>
                  <a:schemeClr val="tx2"/>
                </a:solidFill>
              </a:rPr>
              <a:t>Speed and accuracy figures are vendor claims, not independent benchmarks.</a:t>
            </a:r>
            <a:endParaRPr lang="en-US" sz="1400" dirty="0"/>
          </a:p>
        </p:txBody>
      </p:sp>
      <p:sp>
        <p:nvSpPr>
          <p:cNvPr id="6" name="Text 3"/>
          <p:cNvSpPr txBox="1"/>
          <p:nvPr/>
        </p:nvSpPr>
        <p:spPr>
          <a:xfrm>
            <a:off x="457200" y="3063240"/>
            <a:ext cx="8229600" cy="1463040"/>
          </a:xfrm>
          <a:prstGeom prst="rect">
            <a:avLst/>
          </a:prstGeom>
          <a:noFill/>
          <a:ln/>
        </p:spPr>
        <p:txBody>
          <a:bodyPr wrap="square" lIns="0" tIns="0" rIns="0" bIns="0" rtlCol="0" anchor="t"/>
          <a:lstStyle/>
          <a:p>
            <a:pPr indent="0" marL="0">
              <a:buNone/>
            </a:pPr>
            <a:r>
              <a:rPr lang="en-US" sz="1100" b="1" dirty="0">
                <a:solidFill>
                  <a:schemeClr val="accent3"/>
                </a:solidFill>
              </a:rPr>
              <a:t>Sources: </a:t>
            </a:r>
            <a:pPr indent="0" marL="0">
              <a:buNone/>
            </a:pPr>
            <a:r>
              <a:rPr lang="en-US" sz="1100" dirty="0">
                <a:solidFill>
                  <a:schemeClr val="accent3"/>
                </a:solidFill>
              </a:rPr>
              <a:t>Bhasker &amp; Chadha (Springer, 2009) · Liberty User Guide 2017.06 · Synopsys PrimeTime page &amp; datasheet · Cadence Tempus, Genus, Innovus datasheets · Synopsys ICC II datasheet · Siemens Aprisa fact sheet · OpenSTA (GitHub) · Ansys Path FX · SemiEngineering (LVF validation) · Microchip &amp; AMD UG903 SDC references · EE Times / EDN (CCS, ECSM) · chipdesignrashid.github.io · YouTube: Chip Design with Rashid</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ilicon Copper">
  <a:themeElements>
    <a:clrScheme name="Silicon Copper">
      <a:dk1>
        <a:srgbClr val="1B2631"/>
      </a:dk1>
      <a:lt1>
        <a:srgbClr val="FFFFFF"/>
      </a:lt1>
      <a:dk2>
        <a:srgbClr val="2E4053"/>
      </a:dk2>
      <a:lt2>
        <a:srgbClr val="EEF2F4"/>
      </a:lt2>
      <a:accent1>
        <a:srgbClr val="B8733A"/>
      </a:accent1>
      <a:accent2>
        <a:srgbClr val="2A9D8F"/>
      </a:accent2>
      <a:accent3>
        <a:srgbClr val="5D6D7E"/>
      </a:accent3>
      <a:accent4>
        <a:srgbClr val="D9A066"/>
      </a:accent4>
      <a:accent5>
        <a:srgbClr val="8FB9B3"/>
      </a:accent5>
      <a:accent6>
        <a:srgbClr val="C0392B"/>
      </a:accent6>
      <a:hlink>
        <a:srgbClr val="2A9D8F"/>
      </a:hlink>
      <a:folHlink>
        <a:srgbClr val="5D6D7E"/>
      </a:folHlink>
    </a:clrScheme>
    <a:fontScheme name="Silicon Cop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 Ramp-Up: 3-Day Plan</dc:title>
  <dc:subject>PptxGenJS Presentation</dc:subject>
  <dc:creator>pantdeva</dc:creator>
  <cp:lastModifiedBy>pantdeva</cp:lastModifiedBy>
  <cp:revision>1</cp:revision>
  <dcterms:created xsi:type="dcterms:W3CDTF">2026-10-16T04:21:09Z</dcterms:created>
  <dcterms:modified xsi:type="dcterms:W3CDTF">2026-10-16T04:21:09Z</dcterms:modified>
</cp:coreProperties>
</file>